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56" r:id="rId2"/>
    <p:sldId id="257" r:id="rId3"/>
    <p:sldId id="258" r:id="rId4"/>
    <p:sldId id="259" r:id="rId5"/>
    <p:sldId id="266" r:id="rId6"/>
    <p:sldId id="260" r:id="rId7"/>
    <p:sldId id="261" r:id="rId8"/>
    <p:sldId id="264" r:id="rId9"/>
    <p:sldId id="263" r:id="rId10"/>
    <p:sldId id="265" r:id="rId11"/>
    <p:sldId id="262" r:id="rId12"/>
  </p:sldIdLst>
  <p:sldSz cx="18000663" cy="180006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732"/>
    <a:srgbClr val="003A7D"/>
    <a:srgbClr val="0A6349"/>
    <a:srgbClr val="0071B2"/>
    <a:srgbClr val="028DFF"/>
    <a:srgbClr val="CFD0D0"/>
    <a:srgbClr val="D82F34"/>
    <a:srgbClr val="C800FF"/>
    <a:srgbClr val="4DCC8D"/>
    <a:srgbClr val="4DCC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33"/>
    <p:restoredTop sz="94789"/>
  </p:normalViewPr>
  <p:slideViewPr>
    <p:cSldViewPr snapToGrid="0">
      <p:cViewPr>
        <p:scale>
          <a:sx n="93" d="100"/>
          <a:sy n="93" d="100"/>
        </p:scale>
        <p:origin x="-896" y="-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richardgaus/Desktop/Stanford%20MIMI/llms_in_psychotherapy/powerpoint/summary_statistic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richardgaus/Desktop/Stanford%20MIMI/llms_in_psychotherapy/powerpoint/summary_statistic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richardgaus/Desktop/Stanford%20MIMI/llms_in_psychotherapy/powerpoint/summary_statistic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richardgaus/Desktop/Stanford%20MIMI/llms_in_psychotherapy/powerpoint/summary_statistic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application_type!$A$2</c:f>
              <c:strCache>
                <c:ptCount val="1"/>
                <c:pt idx="0">
                  <c:v>Client-facing applications</c:v>
                </c:pt>
              </c:strCache>
            </c:strRef>
          </c:tx>
          <c:spPr>
            <a:solidFill>
              <a:schemeClr val="accent2"/>
            </a:solidFill>
            <a:ln>
              <a:noFill/>
            </a:ln>
            <a:effectLst/>
          </c:spPr>
          <c:invertIfNegative val="0"/>
          <c:val>
            <c:numRef>
              <c:f>application_type!$B$2</c:f>
              <c:numCache>
                <c:formatCode>General</c:formatCode>
                <c:ptCount val="1"/>
                <c:pt idx="0">
                  <c:v>85.7</c:v>
                </c:pt>
              </c:numCache>
            </c:numRef>
          </c:val>
          <c:extLst>
            <c:ext xmlns:c16="http://schemas.microsoft.com/office/drawing/2014/chart" uri="{C3380CC4-5D6E-409C-BE32-E72D297353CC}">
              <c16:uniqueId val="{00000000-3291-064A-B208-040297EDA54A}"/>
            </c:ext>
          </c:extLst>
        </c:ser>
        <c:ser>
          <c:idx val="1"/>
          <c:order val="1"/>
          <c:tx>
            <c:strRef>
              <c:f>application_type!$A$3</c:f>
              <c:strCache>
                <c:ptCount val="1"/>
                <c:pt idx="0">
                  <c:v>Text-based prediction</c:v>
                </c:pt>
              </c:strCache>
            </c:strRef>
          </c:tx>
          <c:spPr>
            <a:solidFill>
              <a:schemeClr val="accent1"/>
            </a:solidFill>
            <a:ln>
              <a:noFill/>
            </a:ln>
            <a:effectLst/>
          </c:spPr>
          <c:invertIfNegative val="0"/>
          <c:val>
            <c:numRef>
              <c:f>application_type!$B$3</c:f>
              <c:numCache>
                <c:formatCode>General</c:formatCode>
                <c:ptCount val="1"/>
                <c:pt idx="0">
                  <c:v>6.8</c:v>
                </c:pt>
              </c:numCache>
            </c:numRef>
          </c:val>
          <c:extLst>
            <c:ext xmlns:c16="http://schemas.microsoft.com/office/drawing/2014/chart" uri="{C3380CC4-5D6E-409C-BE32-E72D297353CC}">
              <c16:uniqueId val="{00000001-3291-064A-B208-040297EDA54A}"/>
            </c:ext>
          </c:extLst>
        </c:ser>
        <c:ser>
          <c:idx val="2"/>
          <c:order val="2"/>
          <c:tx>
            <c:strRef>
              <c:f>application_type!$A$4</c:f>
              <c:strCache>
                <c:ptCount val="1"/>
                <c:pt idx="0">
                  <c:v>Therapist guidance application</c:v>
                </c:pt>
              </c:strCache>
            </c:strRef>
          </c:tx>
          <c:spPr>
            <a:solidFill>
              <a:schemeClr val="accent3"/>
            </a:solidFill>
            <a:ln>
              <a:noFill/>
            </a:ln>
            <a:effectLst/>
          </c:spPr>
          <c:invertIfNegative val="0"/>
          <c:val>
            <c:numRef>
              <c:f>application_type!$B$4</c:f>
              <c:numCache>
                <c:formatCode>General</c:formatCode>
                <c:ptCount val="1"/>
                <c:pt idx="0">
                  <c:v>6.1</c:v>
                </c:pt>
              </c:numCache>
            </c:numRef>
          </c:val>
          <c:extLst>
            <c:ext xmlns:c16="http://schemas.microsoft.com/office/drawing/2014/chart" uri="{C3380CC4-5D6E-409C-BE32-E72D297353CC}">
              <c16:uniqueId val="{00000002-3291-064A-B208-040297EDA54A}"/>
            </c:ext>
          </c:extLst>
        </c:ser>
        <c:dLbls>
          <c:showLegendKey val="0"/>
          <c:showVal val="0"/>
          <c:showCatName val="0"/>
          <c:showSerName val="0"/>
          <c:showPercent val="0"/>
          <c:showBubbleSize val="0"/>
        </c:dLbls>
        <c:gapWidth val="0"/>
        <c:overlap val="100"/>
        <c:axId val="2081664607"/>
        <c:axId val="2081818543"/>
      </c:barChart>
      <c:catAx>
        <c:axId val="2081664607"/>
        <c:scaling>
          <c:orientation val="minMax"/>
        </c:scaling>
        <c:delete val="1"/>
        <c:axPos val="t"/>
        <c:numFmt formatCode="General" sourceLinked="1"/>
        <c:majorTickMark val="none"/>
        <c:minorTickMark val="none"/>
        <c:tickLblPos val="nextTo"/>
        <c:crossAx val="2081818543"/>
        <c:crosses val="autoZero"/>
        <c:auto val="1"/>
        <c:lblAlgn val="ctr"/>
        <c:lblOffset val="100"/>
        <c:noMultiLvlLbl val="0"/>
      </c:catAx>
      <c:valAx>
        <c:axId val="2081818543"/>
        <c:scaling>
          <c:orientation val="maxMin"/>
          <c:max val="100"/>
          <c:min val="0"/>
        </c:scaling>
        <c:delete val="1"/>
        <c:axPos val="l"/>
        <c:majorGridlines>
          <c:spPr>
            <a:ln w="9525" cap="flat" cmpd="sng" algn="ctr">
              <a:noFill/>
              <a:round/>
            </a:ln>
            <a:effectLst/>
          </c:spPr>
        </c:majorGridlines>
        <c:numFmt formatCode="General" sourceLinked="1"/>
        <c:majorTickMark val="out"/>
        <c:minorTickMark val="none"/>
        <c:tickLblPos val="nextTo"/>
        <c:crossAx val="20816646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2"/>
            </a:solidFill>
            <a:ln w="9525">
              <a:solidFill>
                <a:schemeClr val="tx1"/>
              </a:solidFill>
            </a:ln>
          </c:spPr>
          <c:dPt>
            <c:idx val="0"/>
            <c:bubble3D val="0"/>
            <c:spPr>
              <a:solidFill>
                <a:srgbClr val="028DFF">
                  <a:alpha val="19861"/>
                </a:srgbClr>
              </a:solidFill>
              <a:ln w="15875">
                <a:solidFill>
                  <a:srgbClr val="028DFF"/>
                </a:solidFill>
              </a:ln>
              <a:effectLst/>
            </c:spPr>
            <c:extLst>
              <c:ext xmlns:c16="http://schemas.microsoft.com/office/drawing/2014/chart" uri="{C3380CC4-5D6E-409C-BE32-E72D297353CC}">
                <c16:uniqueId val="{00000001-F4D8-D746-965F-C5CECA152873}"/>
              </c:ext>
            </c:extLst>
          </c:dPt>
          <c:dPt>
            <c:idx val="1"/>
            <c:bubble3D val="0"/>
            <c:spPr>
              <a:solidFill>
                <a:srgbClr val="4DCC8E">
                  <a:alpha val="20108"/>
                </a:srgbClr>
              </a:solidFill>
              <a:ln w="15875">
                <a:solidFill>
                  <a:srgbClr val="4DCC8D"/>
                </a:solidFill>
              </a:ln>
              <a:effectLst/>
            </c:spPr>
            <c:extLst>
              <c:ext xmlns:c16="http://schemas.microsoft.com/office/drawing/2014/chart" uri="{C3380CC4-5D6E-409C-BE32-E72D297353CC}">
                <c16:uniqueId val="{00000003-F4D8-D746-965F-C5CECA152873}"/>
              </c:ext>
            </c:extLst>
          </c:dPt>
          <c:dPt>
            <c:idx val="2"/>
            <c:bubble3D val="0"/>
            <c:spPr>
              <a:solidFill>
                <a:srgbClr val="FF9E3A">
                  <a:alpha val="20000"/>
                </a:srgbClr>
              </a:solidFill>
              <a:ln w="15875">
                <a:solidFill>
                  <a:srgbClr val="FF9E3A"/>
                </a:solidFill>
              </a:ln>
              <a:effectLst/>
            </c:spPr>
            <c:extLst>
              <c:ext xmlns:c16="http://schemas.microsoft.com/office/drawing/2014/chart" uri="{C3380CC4-5D6E-409C-BE32-E72D297353CC}">
                <c16:uniqueId val="{00000005-F4D8-D746-965F-C5CECA152873}"/>
              </c:ext>
            </c:extLst>
          </c:dPt>
          <c:cat>
            <c:strRef>
              <c:f>application_type!$A$2:$A$4</c:f>
              <c:strCache>
                <c:ptCount val="3"/>
                <c:pt idx="0">
                  <c:v>Client-facing applications</c:v>
                </c:pt>
                <c:pt idx="1">
                  <c:v>Text-based prediction</c:v>
                </c:pt>
                <c:pt idx="2">
                  <c:v>Therapist guidance application</c:v>
                </c:pt>
              </c:strCache>
            </c:strRef>
          </c:cat>
          <c:val>
            <c:numRef>
              <c:f>application_type!$B$2:$B$4</c:f>
              <c:numCache>
                <c:formatCode>General</c:formatCode>
                <c:ptCount val="3"/>
                <c:pt idx="0">
                  <c:v>86.9</c:v>
                </c:pt>
                <c:pt idx="1">
                  <c:v>7.4</c:v>
                </c:pt>
                <c:pt idx="2">
                  <c:v>5.7</c:v>
                </c:pt>
              </c:numCache>
            </c:numRef>
          </c:val>
          <c:extLst>
            <c:ext xmlns:c16="http://schemas.microsoft.com/office/drawing/2014/chart" uri="{C3380CC4-5D6E-409C-BE32-E72D297353CC}">
              <c16:uniqueId val="{00000006-F4D8-D746-965F-C5CECA152873}"/>
            </c:ext>
          </c:extLst>
        </c:ser>
        <c:dLbls>
          <c:showLegendKey val="0"/>
          <c:showVal val="0"/>
          <c:showCatName val="0"/>
          <c:showSerName val="0"/>
          <c:showPercent val="0"/>
          <c:showBubbleSize val="0"/>
          <c:showLeaderLines val="1"/>
        </c:dLbls>
        <c:firstSliceAng val="137"/>
        <c:holeSize val="4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2"/>
            </a:solidFill>
            <a:ln>
              <a:noFill/>
            </a:ln>
          </c:spPr>
          <c:dPt>
            <c:idx val="0"/>
            <c:bubble3D val="0"/>
            <c:spPr>
              <a:solidFill>
                <a:schemeClr val="accent2"/>
              </a:solidFill>
              <a:ln w="19050">
                <a:noFill/>
              </a:ln>
              <a:effectLst/>
            </c:spPr>
            <c:extLst>
              <c:ext xmlns:c16="http://schemas.microsoft.com/office/drawing/2014/chart" uri="{C3380CC4-5D6E-409C-BE32-E72D297353CC}">
                <c16:uniqueId val="{00000001-F4D8-D746-965F-C5CECA152873}"/>
              </c:ext>
            </c:extLst>
          </c:dPt>
          <c:dPt>
            <c:idx val="1"/>
            <c:bubble3D val="0"/>
            <c:spPr>
              <a:solidFill>
                <a:schemeClr val="accent1"/>
              </a:solidFill>
              <a:ln w="19050">
                <a:noFill/>
              </a:ln>
              <a:effectLst/>
            </c:spPr>
            <c:extLst>
              <c:ext xmlns:c16="http://schemas.microsoft.com/office/drawing/2014/chart" uri="{C3380CC4-5D6E-409C-BE32-E72D297353CC}">
                <c16:uniqueId val="{00000003-F4D8-D746-965F-C5CECA152873}"/>
              </c:ext>
            </c:extLst>
          </c:dPt>
          <c:dPt>
            <c:idx val="2"/>
            <c:bubble3D val="0"/>
            <c:spPr>
              <a:solidFill>
                <a:schemeClr val="accent3"/>
              </a:solidFill>
              <a:ln w="19050">
                <a:noFill/>
              </a:ln>
              <a:effectLst/>
            </c:spPr>
            <c:extLst>
              <c:ext xmlns:c16="http://schemas.microsoft.com/office/drawing/2014/chart" uri="{C3380CC4-5D6E-409C-BE32-E72D297353CC}">
                <c16:uniqueId val="{00000005-F4D8-D746-965F-C5CECA152873}"/>
              </c:ext>
            </c:extLst>
          </c:dPt>
          <c:cat>
            <c:strRef>
              <c:f>application_type!$A$2:$A$4</c:f>
              <c:strCache>
                <c:ptCount val="3"/>
                <c:pt idx="0">
                  <c:v>Client-facing applications</c:v>
                </c:pt>
                <c:pt idx="1">
                  <c:v>Text-based prediction</c:v>
                </c:pt>
                <c:pt idx="2">
                  <c:v>Therapist guidance application</c:v>
                </c:pt>
              </c:strCache>
            </c:strRef>
          </c:cat>
          <c:val>
            <c:numRef>
              <c:f>application_type!$B$2:$B$4</c:f>
              <c:numCache>
                <c:formatCode>General</c:formatCode>
                <c:ptCount val="3"/>
                <c:pt idx="0">
                  <c:v>85.7</c:v>
                </c:pt>
                <c:pt idx="1">
                  <c:v>6.8</c:v>
                </c:pt>
                <c:pt idx="2">
                  <c:v>6.1</c:v>
                </c:pt>
              </c:numCache>
            </c:numRef>
          </c:val>
          <c:extLst>
            <c:ext xmlns:c16="http://schemas.microsoft.com/office/drawing/2014/chart" uri="{C3380CC4-5D6E-409C-BE32-E72D297353CC}">
              <c16:uniqueId val="{00000006-F4D8-D746-965F-C5CECA152873}"/>
            </c:ext>
          </c:extLst>
        </c:ser>
        <c:dLbls>
          <c:showLegendKey val="0"/>
          <c:showVal val="0"/>
          <c:showCatName val="0"/>
          <c:showSerName val="0"/>
          <c:showPercent val="0"/>
          <c:showBubbleSize val="0"/>
          <c:showLeaderLines val="1"/>
        </c:dLbls>
        <c:firstSliceAng val="9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2"/>
            </a:solidFill>
            <a:ln w="9525">
              <a:solidFill>
                <a:schemeClr val="tx1"/>
              </a:solidFill>
            </a:ln>
          </c:spPr>
          <c:dPt>
            <c:idx val="0"/>
            <c:bubble3D val="0"/>
            <c:spPr>
              <a:solidFill>
                <a:srgbClr val="028DFF">
                  <a:alpha val="19861"/>
                </a:srgbClr>
              </a:solidFill>
              <a:ln w="15875">
                <a:solidFill>
                  <a:srgbClr val="028DFF"/>
                </a:solidFill>
              </a:ln>
              <a:effectLst/>
            </c:spPr>
            <c:extLst>
              <c:ext xmlns:c16="http://schemas.microsoft.com/office/drawing/2014/chart" uri="{C3380CC4-5D6E-409C-BE32-E72D297353CC}">
                <c16:uniqueId val="{00000001-F4D8-D746-965F-C5CECA152873}"/>
              </c:ext>
            </c:extLst>
          </c:dPt>
          <c:dPt>
            <c:idx val="1"/>
            <c:bubble3D val="0"/>
            <c:spPr>
              <a:solidFill>
                <a:srgbClr val="4DCC8E">
                  <a:alpha val="20108"/>
                </a:srgbClr>
              </a:solidFill>
              <a:ln w="15875">
                <a:solidFill>
                  <a:srgbClr val="4DCC8D"/>
                </a:solidFill>
              </a:ln>
              <a:effectLst/>
            </c:spPr>
            <c:extLst>
              <c:ext xmlns:c16="http://schemas.microsoft.com/office/drawing/2014/chart" uri="{C3380CC4-5D6E-409C-BE32-E72D297353CC}">
                <c16:uniqueId val="{00000003-F4D8-D746-965F-C5CECA152873}"/>
              </c:ext>
            </c:extLst>
          </c:dPt>
          <c:dPt>
            <c:idx val="2"/>
            <c:bubble3D val="0"/>
            <c:spPr>
              <a:solidFill>
                <a:srgbClr val="C800FF">
                  <a:alpha val="20000"/>
                </a:srgbClr>
              </a:solidFill>
              <a:ln w="15875">
                <a:solidFill>
                  <a:srgbClr val="C800FF"/>
                </a:solidFill>
              </a:ln>
              <a:effectLst/>
            </c:spPr>
            <c:extLst>
              <c:ext xmlns:c16="http://schemas.microsoft.com/office/drawing/2014/chart" uri="{C3380CC4-5D6E-409C-BE32-E72D297353CC}">
                <c16:uniqueId val="{00000005-F4D8-D746-965F-C5CECA152873}"/>
              </c:ext>
            </c:extLst>
          </c:dPt>
          <c:cat>
            <c:strRef>
              <c:f>application_type!$A$2:$A$4</c:f>
              <c:strCache>
                <c:ptCount val="3"/>
                <c:pt idx="0">
                  <c:v>Client-facing applications</c:v>
                </c:pt>
                <c:pt idx="1">
                  <c:v>Therapist guidance application</c:v>
                </c:pt>
                <c:pt idx="2">
                  <c:v>Text-based prediction</c:v>
                </c:pt>
              </c:strCache>
            </c:strRef>
          </c:cat>
          <c:val>
            <c:numRef>
              <c:f>application_type!$B$2:$B$4</c:f>
              <c:numCache>
                <c:formatCode>General</c:formatCode>
                <c:ptCount val="3"/>
                <c:pt idx="0">
                  <c:v>86.3</c:v>
                </c:pt>
                <c:pt idx="1">
                  <c:v>6.1</c:v>
                </c:pt>
                <c:pt idx="2">
                  <c:v>7.6</c:v>
                </c:pt>
              </c:numCache>
            </c:numRef>
          </c:val>
          <c:extLst>
            <c:ext xmlns:c16="http://schemas.microsoft.com/office/drawing/2014/chart" uri="{C3380CC4-5D6E-409C-BE32-E72D297353CC}">
              <c16:uniqueId val="{00000006-F4D8-D746-965F-C5CECA152873}"/>
            </c:ext>
          </c:extLst>
        </c:ser>
        <c:dLbls>
          <c:showLegendKey val="0"/>
          <c:showVal val="0"/>
          <c:showCatName val="0"/>
          <c:showSerName val="0"/>
          <c:showPercent val="0"/>
          <c:showBubbleSize val="0"/>
          <c:showLeaderLines val="1"/>
        </c:dLbls>
        <c:firstSliceAng val="90"/>
        <c:holeSize val="4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827541226149421"/>
          <c:y val="0.191351520985617"/>
          <c:w val="0.12654731815862907"/>
          <c:h val="0.5620495840958537"/>
        </c:manualLayout>
      </c:layout>
      <c:barChart>
        <c:barDir val="bar"/>
        <c:grouping val="clustered"/>
        <c:varyColors val="0"/>
        <c:ser>
          <c:idx val="0"/>
          <c:order val="0"/>
          <c:tx>
            <c:strRef>
              <c:f>Sheet1!$B$1</c:f>
              <c:strCache>
                <c:ptCount val="1"/>
                <c:pt idx="0">
                  <c:v>Series 1</c:v>
                </c:pt>
              </c:strCache>
            </c:strRef>
          </c:tx>
          <c:spPr>
            <a:solidFill>
              <a:srgbClr val="0071B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Multi-turn (conversational) chatbots</c:v>
                </c:pt>
                <c:pt idx="1">
                  <c:v>Single-turn (question answering) chatbots</c:v>
                </c:pt>
                <c:pt idx="2">
                  <c:v>Multi-modal dialogue systems</c:v>
                </c:pt>
                <c:pt idx="3">
                  <c:v>Spoken-dialogue systems</c:v>
                </c:pt>
                <c:pt idx="4">
                  <c:v>Reframed thought or reflection generation</c:v>
                </c:pt>
                <c:pt idx="5">
                  <c:v>Other</c:v>
                </c:pt>
              </c:strCache>
            </c:strRef>
          </c:cat>
          <c:val>
            <c:numRef>
              <c:f>Sheet1!$B$2:$B$7</c:f>
              <c:numCache>
                <c:formatCode>General</c:formatCode>
                <c:ptCount val="6"/>
                <c:pt idx="0">
                  <c:v>87</c:v>
                </c:pt>
                <c:pt idx="1">
                  <c:v>17</c:v>
                </c:pt>
                <c:pt idx="2">
                  <c:v>3</c:v>
                </c:pt>
                <c:pt idx="3">
                  <c:v>2</c:v>
                </c:pt>
                <c:pt idx="4">
                  <c:v>2</c:v>
                </c:pt>
                <c:pt idx="5">
                  <c:v>3</c:v>
                </c:pt>
              </c:numCache>
            </c:numRef>
          </c:val>
          <c:extLst>
            <c:ext xmlns:c16="http://schemas.microsoft.com/office/drawing/2014/chart" uri="{C3380CC4-5D6E-409C-BE32-E72D297353CC}">
              <c16:uniqueId val="{00000000-45FF-1E43-8ABE-53CB80E48F6F}"/>
            </c:ext>
          </c:extLst>
        </c:ser>
        <c:dLbls>
          <c:showLegendKey val="0"/>
          <c:showVal val="0"/>
          <c:showCatName val="0"/>
          <c:showSerName val="0"/>
          <c:showPercent val="0"/>
          <c:showBubbleSize val="0"/>
        </c:dLbls>
        <c:gapWidth val="25"/>
        <c:axId val="4713600"/>
        <c:axId val="4715312"/>
      </c:barChart>
      <c:catAx>
        <c:axId val="4713600"/>
        <c:scaling>
          <c:orientation val="maxMin"/>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DE"/>
          </a:p>
        </c:txPr>
        <c:crossAx val="4715312"/>
        <c:crosses val="autoZero"/>
        <c:auto val="1"/>
        <c:lblAlgn val="ctr"/>
        <c:lblOffset val="0"/>
        <c:noMultiLvlLbl val="0"/>
      </c:catAx>
      <c:valAx>
        <c:axId val="4715312"/>
        <c:scaling>
          <c:orientation val="minMax"/>
        </c:scaling>
        <c:delete val="1"/>
        <c:axPos val="t"/>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GB" sz="900" dirty="0">
                    <a:solidFill>
                      <a:schemeClr val="tx1"/>
                    </a:solidFill>
                  </a:rPr>
                  <a:t>No. of articles</a:t>
                </a:r>
              </a:p>
            </c:rich>
          </c:tx>
          <c:layout>
            <c:manualLayout>
              <c:xMode val="edge"/>
              <c:yMode val="edge"/>
              <c:x val="0.48275414412398271"/>
              <c:y val="0.7555933633625423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DE"/>
            </a:p>
          </c:txPr>
        </c:title>
        <c:numFmt formatCode="General" sourceLinked="1"/>
        <c:majorTickMark val="in"/>
        <c:minorTickMark val="none"/>
        <c:tickLblPos val="nextTo"/>
        <c:crossAx val="4713600"/>
        <c:crosses val="autoZero"/>
        <c:crossBetween val="between"/>
        <c:majorUnit val="100"/>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827541226149421"/>
          <c:y val="0.191351520985617"/>
          <c:w val="0.14271123126805049"/>
          <c:h val="0.5620495840958537"/>
        </c:manualLayout>
      </c:layout>
      <c:barChart>
        <c:barDir val="bar"/>
        <c:grouping val="clustered"/>
        <c:varyColors val="0"/>
        <c:ser>
          <c:idx val="0"/>
          <c:order val="0"/>
          <c:tx>
            <c:strRef>
              <c:f>Sheet1!$B$1</c:f>
              <c:strCache>
                <c:ptCount val="1"/>
                <c:pt idx="0">
                  <c:v>Series 1</c:v>
                </c:pt>
              </c:strCache>
            </c:strRef>
          </c:tx>
          <c:spPr>
            <a:solidFill>
              <a:srgbClr val="0A634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Treatment fidelity feedback</c:v>
                </c:pt>
                <c:pt idx="1">
                  <c:v>Utterance suggestions</c:v>
                </c:pt>
                <c:pt idx="2">
                  <c:v>Other</c:v>
                </c:pt>
              </c:strCache>
            </c:strRef>
          </c:cat>
          <c:val>
            <c:numRef>
              <c:f>Sheet1!$B$2:$B$4</c:f>
              <c:numCache>
                <c:formatCode>General</c:formatCode>
                <c:ptCount val="3"/>
                <c:pt idx="0">
                  <c:v>3</c:v>
                </c:pt>
                <c:pt idx="1">
                  <c:v>2</c:v>
                </c:pt>
                <c:pt idx="2">
                  <c:v>3</c:v>
                </c:pt>
              </c:numCache>
            </c:numRef>
          </c:val>
          <c:extLst>
            <c:ext xmlns:c16="http://schemas.microsoft.com/office/drawing/2014/chart" uri="{C3380CC4-5D6E-409C-BE32-E72D297353CC}">
              <c16:uniqueId val="{00000000-B60A-1949-AAAB-C612370CA587}"/>
            </c:ext>
          </c:extLst>
        </c:ser>
        <c:dLbls>
          <c:showLegendKey val="0"/>
          <c:showVal val="0"/>
          <c:showCatName val="0"/>
          <c:showSerName val="0"/>
          <c:showPercent val="0"/>
          <c:showBubbleSize val="0"/>
        </c:dLbls>
        <c:gapWidth val="25"/>
        <c:axId val="4713600"/>
        <c:axId val="4715312"/>
      </c:barChart>
      <c:catAx>
        <c:axId val="4713600"/>
        <c:scaling>
          <c:orientation val="maxMin"/>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DE"/>
          </a:p>
        </c:txPr>
        <c:crossAx val="4715312"/>
        <c:crosses val="autoZero"/>
        <c:auto val="1"/>
        <c:lblAlgn val="ctr"/>
        <c:lblOffset val="0"/>
        <c:noMultiLvlLbl val="0"/>
      </c:catAx>
      <c:valAx>
        <c:axId val="4715312"/>
        <c:scaling>
          <c:orientation val="minMax"/>
        </c:scaling>
        <c:delete val="1"/>
        <c:axPos val="t"/>
        <c:title>
          <c:tx>
            <c:rich>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GB" sz="900" dirty="0">
                    <a:solidFill>
                      <a:schemeClr val="tx1"/>
                    </a:solidFill>
                  </a:rPr>
                  <a:t>No.</a:t>
                </a:r>
                <a:r>
                  <a:rPr lang="en-GB" sz="900" baseline="0" dirty="0">
                    <a:solidFill>
                      <a:schemeClr val="tx1"/>
                    </a:solidFill>
                  </a:rPr>
                  <a:t> of articles</a:t>
                </a:r>
                <a:endParaRPr lang="en-GB" sz="900" dirty="0">
                  <a:solidFill>
                    <a:schemeClr val="tx1"/>
                  </a:solidFill>
                </a:endParaRPr>
              </a:p>
            </c:rich>
          </c:tx>
          <c:layout>
            <c:manualLayout>
              <c:xMode val="edge"/>
              <c:yMode val="edge"/>
              <c:x val="0.48275414412398271"/>
              <c:y val="0.7579256553034038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GB"/>
            </a:p>
          </c:txPr>
        </c:title>
        <c:numFmt formatCode="General" sourceLinked="1"/>
        <c:majorTickMark val="none"/>
        <c:minorTickMark val="none"/>
        <c:tickLblPos val="nextTo"/>
        <c:crossAx val="4713600"/>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E830E-6523-154E-BFBE-45098D3FCD5A}" type="datetimeFigureOut">
              <a:rPr lang="en-DE" smtClean="0"/>
              <a:t>30.10.25</a:t>
            </a:fld>
            <a:endParaRPr lang="en-DE"/>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0F27D0-003A-934D-B240-62227A3EB9C9}" type="slidenum">
              <a:rPr lang="en-DE" smtClean="0"/>
              <a:t>‹#›</a:t>
            </a:fld>
            <a:endParaRPr lang="en-DE"/>
          </a:p>
        </p:txBody>
      </p:sp>
    </p:spTree>
    <p:extLst>
      <p:ext uri="{BB962C8B-B14F-4D97-AF65-F5344CB8AC3E}">
        <p14:creationId xmlns:p14="http://schemas.microsoft.com/office/powerpoint/2010/main" val="2690747855"/>
      </p:ext>
    </p:extLst>
  </p:cSld>
  <p:clrMap bg1="lt1" tx1="dk1" bg2="lt2" tx2="dk2" accent1="accent1" accent2="accent2" accent3="accent3" accent4="accent4" accent5="accent5" accent6="accent6" hlink="hlink" folHlink="folHlink"/>
  <p:notesStyle>
    <a:lvl1pPr marL="0" algn="l" defTabSz="1727478" rtl="0" eaLnBrk="1" latinLnBrk="0" hangingPunct="1">
      <a:defRPr sz="2268" kern="1200">
        <a:solidFill>
          <a:schemeClr val="tx1"/>
        </a:solidFill>
        <a:latin typeface="+mn-lt"/>
        <a:ea typeface="+mn-ea"/>
        <a:cs typeface="+mn-cs"/>
      </a:defRPr>
    </a:lvl1pPr>
    <a:lvl2pPr marL="863739" algn="l" defTabSz="1727478" rtl="0" eaLnBrk="1" latinLnBrk="0" hangingPunct="1">
      <a:defRPr sz="2268" kern="1200">
        <a:solidFill>
          <a:schemeClr val="tx1"/>
        </a:solidFill>
        <a:latin typeface="+mn-lt"/>
        <a:ea typeface="+mn-ea"/>
        <a:cs typeface="+mn-cs"/>
      </a:defRPr>
    </a:lvl2pPr>
    <a:lvl3pPr marL="1727478" algn="l" defTabSz="1727478" rtl="0" eaLnBrk="1" latinLnBrk="0" hangingPunct="1">
      <a:defRPr sz="2268" kern="1200">
        <a:solidFill>
          <a:schemeClr val="tx1"/>
        </a:solidFill>
        <a:latin typeface="+mn-lt"/>
        <a:ea typeface="+mn-ea"/>
        <a:cs typeface="+mn-cs"/>
      </a:defRPr>
    </a:lvl3pPr>
    <a:lvl4pPr marL="2591222" algn="l" defTabSz="1727478" rtl="0" eaLnBrk="1" latinLnBrk="0" hangingPunct="1">
      <a:defRPr sz="2268" kern="1200">
        <a:solidFill>
          <a:schemeClr val="tx1"/>
        </a:solidFill>
        <a:latin typeface="+mn-lt"/>
        <a:ea typeface="+mn-ea"/>
        <a:cs typeface="+mn-cs"/>
      </a:defRPr>
    </a:lvl4pPr>
    <a:lvl5pPr marL="3454961" algn="l" defTabSz="1727478" rtl="0" eaLnBrk="1" latinLnBrk="0" hangingPunct="1">
      <a:defRPr sz="2268" kern="1200">
        <a:solidFill>
          <a:schemeClr val="tx1"/>
        </a:solidFill>
        <a:latin typeface="+mn-lt"/>
        <a:ea typeface="+mn-ea"/>
        <a:cs typeface="+mn-cs"/>
      </a:defRPr>
    </a:lvl5pPr>
    <a:lvl6pPr marL="4318699" algn="l" defTabSz="1727478" rtl="0" eaLnBrk="1" latinLnBrk="0" hangingPunct="1">
      <a:defRPr sz="2268" kern="1200">
        <a:solidFill>
          <a:schemeClr val="tx1"/>
        </a:solidFill>
        <a:latin typeface="+mn-lt"/>
        <a:ea typeface="+mn-ea"/>
        <a:cs typeface="+mn-cs"/>
      </a:defRPr>
    </a:lvl6pPr>
    <a:lvl7pPr marL="5182438" algn="l" defTabSz="1727478" rtl="0" eaLnBrk="1" latinLnBrk="0" hangingPunct="1">
      <a:defRPr sz="2268" kern="1200">
        <a:solidFill>
          <a:schemeClr val="tx1"/>
        </a:solidFill>
        <a:latin typeface="+mn-lt"/>
        <a:ea typeface="+mn-ea"/>
        <a:cs typeface="+mn-cs"/>
      </a:defRPr>
    </a:lvl7pPr>
    <a:lvl8pPr marL="6046177" algn="l" defTabSz="1727478" rtl="0" eaLnBrk="1" latinLnBrk="0" hangingPunct="1">
      <a:defRPr sz="2268" kern="1200">
        <a:solidFill>
          <a:schemeClr val="tx1"/>
        </a:solidFill>
        <a:latin typeface="+mn-lt"/>
        <a:ea typeface="+mn-ea"/>
        <a:cs typeface="+mn-cs"/>
      </a:defRPr>
    </a:lvl8pPr>
    <a:lvl9pPr marL="6909920" algn="l" defTabSz="1727478" rtl="0" eaLnBrk="1" latinLnBrk="0" hangingPunct="1">
      <a:defRPr sz="226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5D0F27D0-003A-934D-B240-62227A3EB9C9}" type="slidenum">
              <a:rPr lang="en-DE" smtClean="0"/>
              <a:t>2</a:t>
            </a:fld>
            <a:endParaRPr lang="en-DE"/>
          </a:p>
        </p:txBody>
      </p:sp>
    </p:spTree>
    <p:extLst>
      <p:ext uri="{BB962C8B-B14F-4D97-AF65-F5344CB8AC3E}">
        <p14:creationId xmlns:p14="http://schemas.microsoft.com/office/powerpoint/2010/main" val="998714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5D0F27D0-003A-934D-B240-62227A3EB9C9}" type="slidenum">
              <a:rPr lang="en-DE" smtClean="0"/>
              <a:t>6</a:t>
            </a:fld>
            <a:endParaRPr lang="en-DE"/>
          </a:p>
        </p:txBody>
      </p:sp>
    </p:spTree>
    <p:extLst>
      <p:ext uri="{BB962C8B-B14F-4D97-AF65-F5344CB8AC3E}">
        <p14:creationId xmlns:p14="http://schemas.microsoft.com/office/powerpoint/2010/main" val="1583265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5D0F27D0-003A-934D-B240-62227A3EB9C9}" type="slidenum">
              <a:rPr lang="en-DE" smtClean="0"/>
              <a:t>11</a:t>
            </a:fld>
            <a:endParaRPr lang="en-DE"/>
          </a:p>
        </p:txBody>
      </p:sp>
    </p:spTree>
    <p:extLst>
      <p:ext uri="{BB962C8B-B14F-4D97-AF65-F5344CB8AC3E}">
        <p14:creationId xmlns:p14="http://schemas.microsoft.com/office/powerpoint/2010/main" val="4230563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50050" y="2945943"/>
            <a:ext cx="15300564" cy="6266897"/>
          </a:xfrm>
        </p:spPr>
        <p:txBody>
          <a:bodyPr anchor="b"/>
          <a:lstStyle>
            <a:lvl1pPr algn="ctr">
              <a:defRPr sz="11812"/>
            </a:lvl1pPr>
          </a:lstStyle>
          <a:p>
            <a:r>
              <a:rPr lang="en-GB"/>
              <a:t>Click to edit Master title style</a:t>
            </a:r>
            <a:endParaRPr lang="en-US" dirty="0"/>
          </a:p>
        </p:txBody>
      </p:sp>
      <p:sp>
        <p:nvSpPr>
          <p:cNvPr id="3" name="Subtitle 2"/>
          <p:cNvSpPr>
            <a:spLocks noGrp="1"/>
          </p:cNvSpPr>
          <p:nvPr>
            <p:ph type="subTitle" idx="1"/>
          </p:nvPr>
        </p:nvSpPr>
        <p:spPr>
          <a:xfrm>
            <a:off x="2250083" y="9454516"/>
            <a:ext cx="13500497" cy="4345992"/>
          </a:xfrm>
        </p:spPr>
        <p:txBody>
          <a:bodyPr/>
          <a:lstStyle>
            <a:lvl1pPr marL="0" indent="0" algn="ctr">
              <a:buNone/>
              <a:defRPr sz="4725"/>
            </a:lvl1pPr>
            <a:lvl2pPr marL="900044" indent="0" algn="ctr">
              <a:buNone/>
              <a:defRPr sz="3937"/>
            </a:lvl2pPr>
            <a:lvl3pPr marL="1800088" indent="0" algn="ctr">
              <a:buNone/>
              <a:defRPr sz="3543"/>
            </a:lvl3pPr>
            <a:lvl4pPr marL="2700132" indent="0" algn="ctr">
              <a:buNone/>
              <a:defRPr sz="3150"/>
            </a:lvl4pPr>
            <a:lvl5pPr marL="3600176" indent="0" algn="ctr">
              <a:buNone/>
              <a:defRPr sz="3150"/>
            </a:lvl5pPr>
            <a:lvl6pPr marL="4500220" indent="0" algn="ctr">
              <a:buNone/>
              <a:defRPr sz="3150"/>
            </a:lvl6pPr>
            <a:lvl7pPr marL="5400264" indent="0" algn="ctr">
              <a:buNone/>
              <a:defRPr sz="3150"/>
            </a:lvl7pPr>
            <a:lvl8pPr marL="6300307" indent="0" algn="ctr">
              <a:buNone/>
              <a:defRPr sz="3150"/>
            </a:lvl8pPr>
            <a:lvl9pPr marL="7200351" indent="0" algn="ctr">
              <a:buNone/>
              <a:defRPr sz="315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DB330B0-130E-7945-9C5D-B5C64325BFAF}" type="datetimeFigureOut">
              <a:rPr lang="en-DE" smtClean="0"/>
              <a:t>30.10.25</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1742114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DB330B0-130E-7945-9C5D-B5C64325BFAF}" type="datetimeFigureOut">
              <a:rPr lang="en-DE" smtClean="0"/>
              <a:t>30.10.25</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2123044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8171" y="4487671"/>
            <a:ext cx="15525572" cy="7487774"/>
          </a:xfrm>
        </p:spPr>
        <p:txBody>
          <a:bodyPr anchor="b"/>
          <a:lstStyle>
            <a:lvl1pPr>
              <a:defRPr sz="11812"/>
            </a:lvl1pPr>
          </a:lstStyle>
          <a:p>
            <a:r>
              <a:rPr lang="en-GB"/>
              <a:t>Click to edit Master title style</a:t>
            </a:r>
            <a:endParaRPr lang="en-US" dirty="0"/>
          </a:p>
        </p:txBody>
      </p:sp>
      <p:sp>
        <p:nvSpPr>
          <p:cNvPr id="3" name="Text Placeholder 2"/>
          <p:cNvSpPr>
            <a:spLocks noGrp="1"/>
          </p:cNvSpPr>
          <p:nvPr>
            <p:ph type="body" idx="1"/>
          </p:nvPr>
        </p:nvSpPr>
        <p:spPr>
          <a:xfrm>
            <a:off x="1228171" y="12046282"/>
            <a:ext cx="15525572" cy="3937644"/>
          </a:xfrm>
        </p:spPr>
        <p:txBody>
          <a:bodyPr/>
          <a:lstStyle>
            <a:lvl1pPr marL="0" indent="0">
              <a:buNone/>
              <a:defRPr sz="4725">
                <a:solidFill>
                  <a:schemeClr val="tx1">
                    <a:tint val="82000"/>
                  </a:schemeClr>
                </a:solidFill>
              </a:defRPr>
            </a:lvl1pPr>
            <a:lvl2pPr marL="900044" indent="0">
              <a:buNone/>
              <a:defRPr sz="3937">
                <a:solidFill>
                  <a:schemeClr val="tx1">
                    <a:tint val="82000"/>
                  </a:schemeClr>
                </a:solidFill>
              </a:defRPr>
            </a:lvl2pPr>
            <a:lvl3pPr marL="1800088" indent="0">
              <a:buNone/>
              <a:defRPr sz="3543">
                <a:solidFill>
                  <a:schemeClr val="tx1">
                    <a:tint val="82000"/>
                  </a:schemeClr>
                </a:solidFill>
              </a:defRPr>
            </a:lvl3pPr>
            <a:lvl4pPr marL="2700132" indent="0">
              <a:buNone/>
              <a:defRPr sz="3150">
                <a:solidFill>
                  <a:schemeClr val="tx1">
                    <a:tint val="82000"/>
                  </a:schemeClr>
                </a:solidFill>
              </a:defRPr>
            </a:lvl4pPr>
            <a:lvl5pPr marL="3600176" indent="0">
              <a:buNone/>
              <a:defRPr sz="3150">
                <a:solidFill>
                  <a:schemeClr val="tx1">
                    <a:tint val="82000"/>
                  </a:schemeClr>
                </a:solidFill>
              </a:defRPr>
            </a:lvl5pPr>
            <a:lvl6pPr marL="4500220" indent="0">
              <a:buNone/>
              <a:defRPr sz="3150">
                <a:solidFill>
                  <a:schemeClr val="tx1">
                    <a:tint val="82000"/>
                  </a:schemeClr>
                </a:solidFill>
              </a:defRPr>
            </a:lvl6pPr>
            <a:lvl7pPr marL="5400264" indent="0">
              <a:buNone/>
              <a:defRPr sz="3150">
                <a:solidFill>
                  <a:schemeClr val="tx1">
                    <a:tint val="82000"/>
                  </a:schemeClr>
                </a:solidFill>
              </a:defRPr>
            </a:lvl7pPr>
            <a:lvl8pPr marL="6300307" indent="0">
              <a:buNone/>
              <a:defRPr sz="3150">
                <a:solidFill>
                  <a:schemeClr val="tx1">
                    <a:tint val="82000"/>
                  </a:schemeClr>
                </a:solidFill>
              </a:defRPr>
            </a:lvl8pPr>
            <a:lvl9pPr marL="7200351" indent="0">
              <a:buNone/>
              <a:defRPr sz="315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DB330B0-130E-7945-9C5D-B5C64325BFAF}" type="datetimeFigureOut">
              <a:rPr lang="en-DE" smtClean="0"/>
              <a:t>30.10.25</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2534673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37545" y="4791843"/>
            <a:ext cx="7650282" cy="1142125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9112836" y="4791843"/>
            <a:ext cx="7650282" cy="1142125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DB330B0-130E-7945-9C5D-B5C64325BFAF}" type="datetimeFigureOut">
              <a:rPr lang="en-DE" smtClean="0"/>
              <a:t>30.10.25</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4170254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39890" y="958373"/>
            <a:ext cx="15525572" cy="3479296"/>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39892" y="4412664"/>
            <a:ext cx="7615123" cy="2162578"/>
          </a:xfrm>
        </p:spPr>
        <p:txBody>
          <a:bodyPr anchor="b"/>
          <a:lstStyle>
            <a:lvl1pPr marL="0" indent="0">
              <a:buNone/>
              <a:defRPr sz="4725" b="1"/>
            </a:lvl1pPr>
            <a:lvl2pPr marL="900044" indent="0">
              <a:buNone/>
              <a:defRPr sz="3937" b="1"/>
            </a:lvl2pPr>
            <a:lvl3pPr marL="1800088" indent="0">
              <a:buNone/>
              <a:defRPr sz="3543" b="1"/>
            </a:lvl3pPr>
            <a:lvl4pPr marL="2700132" indent="0">
              <a:buNone/>
              <a:defRPr sz="3150" b="1"/>
            </a:lvl4pPr>
            <a:lvl5pPr marL="3600176" indent="0">
              <a:buNone/>
              <a:defRPr sz="3150" b="1"/>
            </a:lvl5pPr>
            <a:lvl6pPr marL="4500220" indent="0">
              <a:buNone/>
              <a:defRPr sz="3150" b="1"/>
            </a:lvl6pPr>
            <a:lvl7pPr marL="5400264" indent="0">
              <a:buNone/>
              <a:defRPr sz="3150" b="1"/>
            </a:lvl7pPr>
            <a:lvl8pPr marL="6300307" indent="0">
              <a:buNone/>
              <a:defRPr sz="3150" b="1"/>
            </a:lvl8pPr>
            <a:lvl9pPr marL="7200351" indent="0">
              <a:buNone/>
              <a:defRPr sz="3150" b="1"/>
            </a:lvl9pPr>
          </a:lstStyle>
          <a:p>
            <a:pPr lvl="0"/>
            <a:r>
              <a:rPr lang="en-GB"/>
              <a:t>Click to edit Master text styles</a:t>
            </a:r>
          </a:p>
        </p:txBody>
      </p:sp>
      <p:sp>
        <p:nvSpPr>
          <p:cNvPr id="4" name="Content Placeholder 3"/>
          <p:cNvSpPr>
            <a:spLocks noGrp="1"/>
          </p:cNvSpPr>
          <p:nvPr>
            <p:ph sz="half" idx="2"/>
          </p:nvPr>
        </p:nvSpPr>
        <p:spPr>
          <a:xfrm>
            <a:off x="1239892" y="6575242"/>
            <a:ext cx="7615123" cy="967119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9112837" y="4412664"/>
            <a:ext cx="7652626" cy="2162578"/>
          </a:xfrm>
        </p:spPr>
        <p:txBody>
          <a:bodyPr anchor="b"/>
          <a:lstStyle>
            <a:lvl1pPr marL="0" indent="0">
              <a:buNone/>
              <a:defRPr sz="4725" b="1"/>
            </a:lvl1pPr>
            <a:lvl2pPr marL="900044" indent="0">
              <a:buNone/>
              <a:defRPr sz="3937" b="1"/>
            </a:lvl2pPr>
            <a:lvl3pPr marL="1800088" indent="0">
              <a:buNone/>
              <a:defRPr sz="3543" b="1"/>
            </a:lvl3pPr>
            <a:lvl4pPr marL="2700132" indent="0">
              <a:buNone/>
              <a:defRPr sz="3150" b="1"/>
            </a:lvl4pPr>
            <a:lvl5pPr marL="3600176" indent="0">
              <a:buNone/>
              <a:defRPr sz="3150" b="1"/>
            </a:lvl5pPr>
            <a:lvl6pPr marL="4500220" indent="0">
              <a:buNone/>
              <a:defRPr sz="3150" b="1"/>
            </a:lvl6pPr>
            <a:lvl7pPr marL="5400264" indent="0">
              <a:buNone/>
              <a:defRPr sz="3150" b="1"/>
            </a:lvl7pPr>
            <a:lvl8pPr marL="6300307" indent="0">
              <a:buNone/>
              <a:defRPr sz="3150" b="1"/>
            </a:lvl8pPr>
            <a:lvl9pPr marL="7200351" indent="0">
              <a:buNone/>
              <a:defRPr sz="3150" b="1"/>
            </a:lvl9pPr>
          </a:lstStyle>
          <a:p>
            <a:pPr lvl="0"/>
            <a:r>
              <a:rPr lang="en-GB"/>
              <a:t>Click to edit Master text styles</a:t>
            </a:r>
          </a:p>
        </p:txBody>
      </p:sp>
      <p:sp>
        <p:nvSpPr>
          <p:cNvPr id="6" name="Content Placeholder 5"/>
          <p:cNvSpPr>
            <a:spLocks noGrp="1"/>
          </p:cNvSpPr>
          <p:nvPr>
            <p:ph sz="quarter" idx="4"/>
          </p:nvPr>
        </p:nvSpPr>
        <p:spPr>
          <a:xfrm>
            <a:off x="9112837" y="6575242"/>
            <a:ext cx="7652626" cy="967119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DB330B0-130E-7945-9C5D-B5C64325BFAF}" type="datetimeFigureOut">
              <a:rPr lang="en-DE" smtClean="0"/>
              <a:t>30.10.25</a:t>
            </a:fld>
            <a:endParaRPr lang="en-DE"/>
          </a:p>
        </p:txBody>
      </p:sp>
      <p:sp>
        <p:nvSpPr>
          <p:cNvPr id="8" name="Footer Placeholder 7"/>
          <p:cNvSpPr>
            <a:spLocks noGrp="1"/>
          </p:cNvSpPr>
          <p:nvPr>
            <p:ph type="ftr" sz="quarter" idx="11"/>
          </p:nvPr>
        </p:nvSpPr>
        <p:spPr/>
        <p:txBody>
          <a:bodyPr/>
          <a:lstStyle/>
          <a:p>
            <a:endParaRPr lang="en-DE"/>
          </a:p>
        </p:txBody>
      </p:sp>
      <p:sp>
        <p:nvSpPr>
          <p:cNvPr id="9" name="Slide Number Placeholder 8"/>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971937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DB330B0-130E-7945-9C5D-B5C64325BFAF}" type="datetimeFigureOut">
              <a:rPr lang="en-DE" smtClean="0"/>
              <a:t>30.10.25</a:t>
            </a:fld>
            <a:endParaRPr lang="en-DE"/>
          </a:p>
        </p:txBody>
      </p:sp>
      <p:sp>
        <p:nvSpPr>
          <p:cNvPr id="4" name="Footer Placeholder 3"/>
          <p:cNvSpPr>
            <a:spLocks noGrp="1"/>
          </p:cNvSpPr>
          <p:nvPr>
            <p:ph type="ftr" sz="quarter" idx="11"/>
          </p:nvPr>
        </p:nvSpPr>
        <p:spPr/>
        <p:txBody>
          <a:bodyPr/>
          <a:lstStyle/>
          <a:p>
            <a:endParaRPr lang="en-DE"/>
          </a:p>
        </p:txBody>
      </p:sp>
      <p:sp>
        <p:nvSpPr>
          <p:cNvPr id="5" name="Slide Number Placeholder 4"/>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586929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B330B0-130E-7945-9C5D-B5C64325BFAF}" type="datetimeFigureOut">
              <a:rPr lang="en-DE" smtClean="0"/>
              <a:t>30.10.25</a:t>
            </a:fld>
            <a:endParaRPr lang="en-DE"/>
          </a:p>
        </p:txBody>
      </p:sp>
      <p:sp>
        <p:nvSpPr>
          <p:cNvPr id="3" name="Footer Placeholder 2"/>
          <p:cNvSpPr>
            <a:spLocks noGrp="1"/>
          </p:cNvSpPr>
          <p:nvPr>
            <p:ph type="ftr" sz="quarter" idx="11"/>
          </p:nvPr>
        </p:nvSpPr>
        <p:spPr/>
        <p:txBody>
          <a:bodyPr/>
          <a:lstStyle/>
          <a:p>
            <a:endParaRPr lang="en-DE"/>
          </a:p>
        </p:txBody>
      </p:sp>
      <p:sp>
        <p:nvSpPr>
          <p:cNvPr id="4" name="Slide Number Placeholder 3"/>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4175479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39890" y="1200044"/>
            <a:ext cx="5805682" cy="4200155"/>
          </a:xfrm>
        </p:spPr>
        <p:txBody>
          <a:bodyPr anchor="b"/>
          <a:lstStyle>
            <a:lvl1pPr>
              <a:defRPr sz="6300"/>
            </a:lvl1pPr>
          </a:lstStyle>
          <a:p>
            <a:r>
              <a:rPr lang="en-GB"/>
              <a:t>Click to edit Master title style</a:t>
            </a:r>
            <a:endParaRPr lang="en-US" dirty="0"/>
          </a:p>
        </p:txBody>
      </p:sp>
      <p:sp>
        <p:nvSpPr>
          <p:cNvPr id="3" name="Content Placeholder 2"/>
          <p:cNvSpPr>
            <a:spLocks noGrp="1"/>
          </p:cNvSpPr>
          <p:nvPr>
            <p:ph idx="1"/>
          </p:nvPr>
        </p:nvSpPr>
        <p:spPr>
          <a:xfrm>
            <a:off x="7652626" y="2591766"/>
            <a:ext cx="9112836" cy="12792138"/>
          </a:xfrm>
        </p:spPr>
        <p:txBody>
          <a:bodyPr/>
          <a:lstStyle>
            <a:lvl1pPr>
              <a:defRPr sz="6300"/>
            </a:lvl1pPr>
            <a:lvl2pPr>
              <a:defRPr sz="5512"/>
            </a:lvl2pPr>
            <a:lvl3pPr>
              <a:defRPr sz="4725"/>
            </a:lvl3pPr>
            <a:lvl4pPr>
              <a:defRPr sz="3937"/>
            </a:lvl4pPr>
            <a:lvl5pPr>
              <a:defRPr sz="3937"/>
            </a:lvl5pPr>
            <a:lvl6pPr>
              <a:defRPr sz="3937"/>
            </a:lvl6pPr>
            <a:lvl7pPr>
              <a:defRPr sz="3937"/>
            </a:lvl7pPr>
            <a:lvl8pPr>
              <a:defRPr sz="3937"/>
            </a:lvl8pPr>
            <a:lvl9pPr>
              <a:defRPr sz="393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239890" y="5400199"/>
            <a:ext cx="5805682" cy="10004536"/>
          </a:xfrm>
        </p:spPr>
        <p:txBody>
          <a:bodyPr/>
          <a:lstStyle>
            <a:lvl1pPr marL="0" indent="0">
              <a:buNone/>
              <a:defRPr sz="3150"/>
            </a:lvl1pPr>
            <a:lvl2pPr marL="900044" indent="0">
              <a:buNone/>
              <a:defRPr sz="2756"/>
            </a:lvl2pPr>
            <a:lvl3pPr marL="1800088" indent="0">
              <a:buNone/>
              <a:defRPr sz="2362"/>
            </a:lvl3pPr>
            <a:lvl4pPr marL="2700132" indent="0">
              <a:buNone/>
              <a:defRPr sz="1969"/>
            </a:lvl4pPr>
            <a:lvl5pPr marL="3600176" indent="0">
              <a:buNone/>
              <a:defRPr sz="1969"/>
            </a:lvl5pPr>
            <a:lvl6pPr marL="4500220" indent="0">
              <a:buNone/>
              <a:defRPr sz="1969"/>
            </a:lvl6pPr>
            <a:lvl7pPr marL="5400264" indent="0">
              <a:buNone/>
              <a:defRPr sz="1969"/>
            </a:lvl7pPr>
            <a:lvl8pPr marL="6300307" indent="0">
              <a:buNone/>
              <a:defRPr sz="1969"/>
            </a:lvl8pPr>
            <a:lvl9pPr marL="7200351" indent="0">
              <a:buNone/>
              <a:defRPr sz="1969"/>
            </a:lvl9pPr>
          </a:lstStyle>
          <a:p>
            <a:pPr lvl="0"/>
            <a:r>
              <a:rPr lang="en-GB"/>
              <a:t>Click to edit Master text styles</a:t>
            </a:r>
          </a:p>
        </p:txBody>
      </p:sp>
      <p:sp>
        <p:nvSpPr>
          <p:cNvPr id="5" name="Date Placeholder 4"/>
          <p:cNvSpPr>
            <a:spLocks noGrp="1"/>
          </p:cNvSpPr>
          <p:nvPr>
            <p:ph type="dt" sz="half" idx="10"/>
          </p:nvPr>
        </p:nvSpPr>
        <p:spPr/>
        <p:txBody>
          <a:bodyPr/>
          <a:lstStyle/>
          <a:p>
            <a:fld id="{7DB330B0-130E-7945-9C5D-B5C64325BFAF}" type="datetimeFigureOut">
              <a:rPr lang="en-DE" smtClean="0"/>
              <a:t>30.10.25</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325782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39890" y="1200044"/>
            <a:ext cx="5805682" cy="4200155"/>
          </a:xfrm>
        </p:spPr>
        <p:txBody>
          <a:bodyPr anchor="b"/>
          <a:lstStyle>
            <a:lvl1pPr>
              <a:defRPr sz="63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652626" y="2591766"/>
            <a:ext cx="9112836" cy="12792138"/>
          </a:xfrm>
        </p:spPr>
        <p:txBody>
          <a:bodyPr anchor="t"/>
          <a:lstStyle>
            <a:lvl1pPr marL="0" indent="0">
              <a:buNone/>
              <a:defRPr sz="6300"/>
            </a:lvl1pPr>
            <a:lvl2pPr marL="900044" indent="0">
              <a:buNone/>
              <a:defRPr sz="5512"/>
            </a:lvl2pPr>
            <a:lvl3pPr marL="1800088" indent="0">
              <a:buNone/>
              <a:defRPr sz="4725"/>
            </a:lvl3pPr>
            <a:lvl4pPr marL="2700132" indent="0">
              <a:buNone/>
              <a:defRPr sz="3937"/>
            </a:lvl4pPr>
            <a:lvl5pPr marL="3600176" indent="0">
              <a:buNone/>
              <a:defRPr sz="3937"/>
            </a:lvl5pPr>
            <a:lvl6pPr marL="4500220" indent="0">
              <a:buNone/>
              <a:defRPr sz="3937"/>
            </a:lvl6pPr>
            <a:lvl7pPr marL="5400264" indent="0">
              <a:buNone/>
              <a:defRPr sz="3937"/>
            </a:lvl7pPr>
            <a:lvl8pPr marL="6300307" indent="0">
              <a:buNone/>
              <a:defRPr sz="3937"/>
            </a:lvl8pPr>
            <a:lvl9pPr marL="7200351" indent="0">
              <a:buNone/>
              <a:defRPr sz="3937"/>
            </a:lvl9pPr>
          </a:lstStyle>
          <a:p>
            <a:r>
              <a:rPr lang="en-GB"/>
              <a:t>Click icon to add picture</a:t>
            </a:r>
            <a:endParaRPr lang="en-US" dirty="0"/>
          </a:p>
        </p:txBody>
      </p:sp>
      <p:sp>
        <p:nvSpPr>
          <p:cNvPr id="4" name="Text Placeholder 3"/>
          <p:cNvSpPr>
            <a:spLocks noGrp="1"/>
          </p:cNvSpPr>
          <p:nvPr>
            <p:ph type="body" sz="half" idx="2"/>
          </p:nvPr>
        </p:nvSpPr>
        <p:spPr>
          <a:xfrm>
            <a:off x="1239890" y="5400199"/>
            <a:ext cx="5805682" cy="10004536"/>
          </a:xfrm>
        </p:spPr>
        <p:txBody>
          <a:bodyPr/>
          <a:lstStyle>
            <a:lvl1pPr marL="0" indent="0">
              <a:buNone/>
              <a:defRPr sz="3150"/>
            </a:lvl1pPr>
            <a:lvl2pPr marL="900044" indent="0">
              <a:buNone/>
              <a:defRPr sz="2756"/>
            </a:lvl2pPr>
            <a:lvl3pPr marL="1800088" indent="0">
              <a:buNone/>
              <a:defRPr sz="2362"/>
            </a:lvl3pPr>
            <a:lvl4pPr marL="2700132" indent="0">
              <a:buNone/>
              <a:defRPr sz="1969"/>
            </a:lvl4pPr>
            <a:lvl5pPr marL="3600176" indent="0">
              <a:buNone/>
              <a:defRPr sz="1969"/>
            </a:lvl5pPr>
            <a:lvl6pPr marL="4500220" indent="0">
              <a:buNone/>
              <a:defRPr sz="1969"/>
            </a:lvl6pPr>
            <a:lvl7pPr marL="5400264" indent="0">
              <a:buNone/>
              <a:defRPr sz="1969"/>
            </a:lvl7pPr>
            <a:lvl8pPr marL="6300307" indent="0">
              <a:buNone/>
              <a:defRPr sz="1969"/>
            </a:lvl8pPr>
            <a:lvl9pPr marL="7200351" indent="0">
              <a:buNone/>
              <a:defRPr sz="1969"/>
            </a:lvl9pPr>
          </a:lstStyle>
          <a:p>
            <a:pPr lvl="0"/>
            <a:r>
              <a:rPr lang="en-GB"/>
              <a:t>Click to edit Master text styles</a:t>
            </a:r>
          </a:p>
        </p:txBody>
      </p:sp>
      <p:sp>
        <p:nvSpPr>
          <p:cNvPr id="5" name="Date Placeholder 4"/>
          <p:cNvSpPr>
            <a:spLocks noGrp="1"/>
          </p:cNvSpPr>
          <p:nvPr>
            <p:ph type="dt" sz="half" idx="10"/>
          </p:nvPr>
        </p:nvSpPr>
        <p:spPr/>
        <p:txBody>
          <a:bodyPr/>
          <a:lstStyle/>
          <a:p>
            <a:fld id="{7DB330B0-130E-7945-9C5D-B5C64325BFAF}" type="datetimeFigureOut">
              <a:rPr lang="en-DE" smtClean="0"/>
              <a:t>30.10.25</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3127033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DB330B0-130E-7945-9C5D-B5C64325BFAF}" type="datetimeFigureOut">
              <a:rPr lang="en-DE" smtClean="0"/>
              <a:t>30.10.25</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2819234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881725" y="958369"/>
            <a:ext cx="3881393" cy="1525473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37546" y="958369"/>
            <a:ext cx="11419171" cy="1525473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DB330B0-130E-7945-9C5D-B5C64325BFAF}" type="datetimeFigureOut">
              <a:rPr lang="en-DE" smtClean="0"/>
              <a:t>30.10.25</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1F397E3-BB0B-0E47-94ED-375756308D42}" type="slidenum">
              <a:rPr lang="en-DE" smtClean="0"/>
              <a:t>‹#›</a:t>
            </a:fld>
            <a:endParaRPr lang="en-DE"/>
          </a:p>
        </p:txBody>
      </p:sp>
    </p:spTree>
    <p:extLst>
      <p:ext uri="{BB962C8B-B14F-4D97-AF65-F5344CB8AC3E}">
        <p14:creationId xmlns:p14="http://schemas.microsoft.com/office/powerpoint/2010/main" val="1340791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37546" y="958373"/>
            <a:ext cx="15525572" cy="347929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237546" y="4791843"/>
            <a:ext cx="15525572" cy="1142125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37546" y="16683952"/>
            <a:ext cx="4050149" cy="958369"/>
          </a:xfrm>
          <a:prstGeom prst="rect">
            <a:avLst/>
          </a:prstGeom>
        </p:spPr>
        <p:txBody>
          <a:bodyPr vert="horz" lIns="91440" tIns="45720" rIns="91440" bIns="45720" rtlCol="0" anchor="ctr"/>
          <a:lstStyle>
            <a:lvl1pPr algn="l">
              <a:defRPr sz="2362">
                <a:solidFill>
                  <a:schemeClr val="tx1">
                    <a:tint val="82000"/>
                  </a:schemeClr>
                </a:solidFill>
              </a:defRPr>
            </a:lvl1pPr>
          </a:lstStyle>
          <a:p>
            <a:fld id="{7DB330B0-130E-7945-9C5D-B5C64325BFAF}" type="datetimeFigureOut">
              <a:rPr lang="en-DE" smtClean="0"/>
              <a:t>30.10.25</a:t>
            </a:fld>
            <a:endParaRPr lang="en-DE"/>
          </a:p>
        </p:txBody>
      </p:sp>
      <p:sp>
        <p:nvSpPr>
          <p:cNvPr id="5" name="Footer Placeholder 4"/>
          <p:cNvSpPr>
            <a:spLocks noGrp="1"/>
          </p:cNvSpPr>
          <p:nvPr>
            <p:ph type="ftr" sz="quarter" idx="3"/>
          </p:nvPr>
        </p:nvSpPr>
        <p:spPr>
          <a:xfrm>
            <a:off x="5962720" y="16683952"/>
            <a:ext cx="6075224" cy="958369"/>
          </a:xfrm>
          <a:prstGeom prst="rect">
            <a:avLst/>
          </a:prstGeom>
        </p:spPr>
        <p:txBody>
          <a:bodyPr vert="horz" lIns="91440" tIns="45720" rIns="91440" bIns="45720" rtlCol="0" anchor="ctr"/>
          <a:lstStyle>
            <a:lvl1pPr algn="ctr">
              <a:defRPr sz="2362">
                <a:solidFill>
                  <a:schemeClr val="tx1">
                    <a:tint val="82000"/>
                  </a:schemeClr>
                </a:solidFill>
              </a:defRPr>
            </a:lvl1pPr>
          </a:lstStyle>
          <a:p>
            <a:endParaRPr lang="en-DE"/>
          </a:p>
        </p:txBody>
      </p:sp>
      <p:sp>
        <p:nvSpPr>
          <p:cNvPr id="6" name="Slide Number Placeholder 5"/>
          <p:cNvSpPr>
            <a:spLocks noGrp="1"/>
          </p:cNvSpPr>
          <p:nvPr>
            <p:ph type="sldNum" sz="quarter" idx="4"/>
          </p:nvPr>
        </p:nvSpPr>
        <p:spPr>
          <a:xfrm>
            <a:off x="12712968" y="16683952"/>
            <a:ext cx="4050149" cy="958369"/>
          </a:xfrm>
          <a:prstGeom prst="rect">
            <a:avLst/>
          </a:prstGeom>
        </p:spPr>
        <p:txBody>
          <a:bodyPr vert="horz" lIns="91440" tIns="45720" rIns="91440" bIns="45720" rtlCol="0" anchor="ctr"/>
          <a:lstStyle>
            <a:lvl1pPr algn="r">
              <a:defRPr sz="2362">
                <a:solidFill>
                  <a:schemeClr val="tx1">
                    <a:tint val="82000"/>
                  </a:schemeClr>
                </a:solidFill>
              </a:defRPr>
            </a:lvl1pPr>
          </a:lstStyle>
          <a:p>
            <a:fld id="{B1F397E3-BB0B-0E47-94ED-375756308D42}" type="slidenum">
              <a:rPr lang="en-DE" smtClean="0"/>
              <a:t>‹#›</a:t>
            </a:fld>
            <a:endParaRPr lang="en-DE"/>
          </a:p>
        </p:txBody>
      </p:sp>
    </p:spTree>
    <p:extLst>
      <p:ext uri="{BB962C8B-B14F-4D97-AF65-F5344CB8AC3E}">
        <p14:creationId xmlns:p14="http://schemas.microsoft.com/office/powerpoint/2010/main" val="33981916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800088" rtl="0" eaLnBrk="1" latinLnBrk="0" hangingPunct="1">
        <a:lnSpc>
          <a:spcPct val="90000"/>
        </a:lnSpc>
        <a:spcBef>
          <a:spcPct val="0"/>
        </a:spcBef>
        <a:buNone/>
        <a:defRPr sz="8662" kern="1200">
          <a:solidFill>
            <a:schemeClr val="tx1"/>
          </a:solidFill>
          <a:latin typeface="+mj-lt"/>
          <a:ea typeface="+mj-ea"/>
          <a:cs typeface="+mj-cs"/>
        </a:defRPr>
      </a:lvl1pPr>
    </p:titleStyle>
    <p:bodyStyle>
      <a:lvl1pPr marL="450022" indent="-450022" algn="l" defTabSz="1800088" rtl="0" eaLnBrk="1" latinLnBrk="0" hangingPunct="1">
        <a:lnSpc>
          <a:spcPct val="90000"/>
        </a:lnSpc>
        <a:spcBef>
          <a:spcPts val="1969"/>
        </a:spcBef>
        <a:buFont typeface="Arial" panose="020B0604020202020204" pitchFamily="34" charset="0"/>
        <a:buChar char="•"/>
        <a:defRPr sz="5512" kern="1200">
          <a:solidFill>
            <a:schemeClr val="tx1"/>
          </a:solidFill>
          <a:latin typeface="+mn-lt"/>
          <a:ea typeface="+mn-ea"/>
          <a:cs typeface="+mn-cs"/>
        </a:defRPr>
      </a:lvl1pPr>
      <a:lvl2pPr marL="1350066" indent="-450022" algn="l" defTabSz="1800088" rtl="0" eaLnBrk="1" latinLnBrk="0" hangingPunct="1">
        <a:lnSpc>
          <a:spcPct val="90000"/>
        </a:lnSpc>
        <a:spcBef>
          <a:spcPts val="984"/>
        </a:spcBef>
        <a:buFont typeface="Arial" panose="020B0604020202020204" pitchFamily="34" charset="0"/>
        <a:buChar char="•"/>
        <a:defRPr sz="4725" kern="1200">
          <a:solidFill>
            <a:schemeClr val="tx1"/>
          </a:solidFill>
          <a:latin typeface="+mn-lt"/>
          <a:ea typeface="+mn-ea"/>
          <a:cs typeface="+mn-cs"/>
        </a:defRPr>
      </a:lvl2pPr>
      <a:lvl3pPr marL="2250110" indent="-450022" algn="l" defTabSz="1800088" rtl="0" eaLnBrk="1" latinLnBrk="0" hangingPunct="1">
        <a:lnSpc>
          <a:spcPct val="90000"/>
        </a:lnSpc>
        <a:spcBef>
          <a:spcPts val="984"/>
        </a:spcBef>
        <a:buFont typeface="Arial" panose="020B0604020202020204" pitchFamily="34" charset="0"/>
        <a:buChar char="•"/>
        <a:defRPr sz="3937" kern="1200">
          <a:solidFill>
            <a:schemeClr val="tx1"/>
          </a:solidFill>
          <a:latin typeface="+mn-lt"/>
          <a:ea typeface="+mn-ea"/>
          <a:cs typeface="+mn-cs"/>
        </a:defRPr>
      </a:lvl3pPr>
      <a:lvl4pPr marL="3150154"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4pPr>
      <a:lvl5pPr marL="4050198"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5pPr>
      <a:lvl6pPr marL="4950242"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6pPr>
      <a:lvl7pPr marL="5850285"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7pPr>
      <a:lvl8pPr marL="6750329"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8pPr>
      <a:lvl9pPr marL="7650373"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9pPr>
    </p:bodyStyle>
    <p:otherStyle>
      <a:defPPr>
        <a:defRPr lang="en-US"/>
      </a:defPPr>
      <a:lvl1pPr marL="0" algn="l" defTabSz="1800088" rtl="0" eaLnBrk="1" latinLnBrk="0" hangingPunct="1">
        <a:defRPr sz="3543" kern="1200">
          <a:solidFill>
            <a:schemeClr val="tx1"/>
          </a:solidFill>
          <a:latin typeface="+mn-lt"/>
          <a:ea typeface="+mn-ea"/>
          <a:cs typeface="+mn-cs"/>
        </a:defRPr>
      </a:lvl1pPr>
      <a:lvl2pPr marL="900044" algn="l" defTabSz="1800088" rtl="0" eaLnBrk="1" latinLnBrk="0" hangingPunct="1">
        <a:defRPr sz="3543" kern="1200">
          <a:solidFill>
            <a:schemeClr val="tx1"/>
          </a:solidFill>
          <a:latin typeface="+mn-lt"/>
          <a:ea typeface="+mn-ea"/>
          <a:cs typeface="+mn-cs"/>
        </a:defRPr>
      </a:lvl2pPr>
      <a:lvl3pPr marL="1800088" algn="l" defTabSz="1800088" rtl="0" eaLnBrk="1" latinLnBrk="0" hangingPunct="1">
        <a:defRPr sz="3543" kern="1200">
          <a:solidFill>
            <a:schemeClr val="tx1"/>
          </a:solidFill>
          <a:latin typeface="+mn-lt"/>
          <a:ea typeface="+mn-ea"/>
          <a:cs typeface="+mn-cs"/>
        </a:defRPr>
      </a:lvl3pPr>
      <a:lvl4pPr marL="2700132" algn="l" defTabSz="1800088" rtl="0" eaLnBrk="1" latinLnBrk="0" hangingPunct="1">
        <a:defRPr sz="3543" kern="1200">
          <a:solidFill>
            <a:schemeClr val="tx1"/>
          </a:solidFill>
          <a:latin typeface="+mn-lt"/>
          <a:ea typeface="+mn-ea"/>
          <a:cs typeface="+mn-cs"/>
        </a:defRPr>
      </a:lvl4pPr>
      <a:lvl5pPr marL="3600176" algn="l" defTabSz="1800088" rtl="0" eaLnBrk="1" latinLnBrk="0" hangingPunct="1">
        <a:defRPr sz="3543" kern="1200">
          <a:solidFill>
            <a:schemeClr val="tx1"/>
          </a:solidFill>
          <a:latin typeface="+mn-lt"/>
          <a:ea typeface="+mn-ea"/>
          <a:cs typeface="+mn-cs"/>
        </a:defRPr>
      </a:lvl5pPr>
      <a:lvl6pPr marL="4500220" algn="l" defTabSz="1800088" rtl="0" eaLnBrk="1" latinLnBrk="0" hangingPunct="1">
        <a:defRPr sz="3543" kern="1200">
          <a:solidFill>
            <a:schemeClr val="tx1"/>
          </a:solidFill>
          <a:latin typeface="+mn-lt"/>
          <a:ea typeface="+mn-ea"/>
          <a:cs typeface="+mn-cs"/>
        </a:defRPr>
      </a:lvl6pPr>
      <a:lvl7pPr marL="5400264" algn="l" defTabSz="1800088" rtl="0" eaLnBrk="1" latinLnBrk="0" hangingPunct="1">
        <a:defRPr sz="3543" kern="1200">
          <a:solidFill>
            <a:schemeClr val="tx1"/>
          </a:solidFill>
          <a:latin typeface="+mn-lt"/>
          <a:ea typeface="+mn-ea"/>
          <a:cs typeface="+mn-cs"/>
        </a:defRPr>
      </a:lvl7pPr>
      <a:lvl8pPr marL="6300307" algn="l" defTabSz="1800088" rtl="0" eaLnBrk="1" latinLnBrk="0" hangingPunct="1">
        <a:defRPr sz="3543" kern="1200">
          <a:solidFill>
            <a:schemeClr val="tx1"/>
          </a:solidFill>
          <a:latin typeface="+mn-lt"/>
          <a:ea typeface="+mn-ea"/>
          <a:cs typeface="+mn-cs"/>
        </a:defRPr>
      </a:lvl8pPr>
      <a:lvl9pPr marL="7200351" algn="l" defTabSz="1800088" rtl="0" eaLnBrk="1" latinLnBrk="0" hangingPunct="1">
        <a:defRPr sz="354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3.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hart" Target="../charts/chart4.xml"/><Relationship Id="rId10" Type="http://schemas.openxmlformats.org/officeDocument/2006/relationships/chart" Target="../charts/chart6.xml"/><Relationship Id="rId4" Type="http://schemas.openxmlformats.org/officeDocument/2006/relationships/image" Target="../media/image7.svg"/><Relationship Id="rId9" Type="http://schemas.openxmlformats.org/officeDocument/2006/relationships/chart" Target="../charts/chart5.xml"/></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39ACE-0712-30F6-955D-DE31E9BD8D40}"/>
              </a:ext>
            </a:extLst>
          </p:cNvPr>
          <p:cNvSpPr>
            <a:spLocks noGrp="1"/>
          </p:cNvSpPr>
          <p:nvPr>
            <p:ph type="ctrTitle"/>
          </p:nvPr>
        </p:nvSpPr>
        <p:spPr/>
        <p:txBody>
          <a:bodyPr/>
          <a:lstStyle/>
          <a:p>
            <a:endParaRPr lang="en-DE"/>
          </a:p>
        </p:txBody>
      </p:sp>
      <p:sp>
        <p:nvSpPr>
          <p:cNvPr id="3" name="Subtitle 2">
            <a:extLst>
              <a:ext uri="{FF2B5EF4-FFF2-40B4-BE49-F238E27FC236}">
                <a16:creationId xmlns:a16="http://schemas.microsoft.com/office/drawing/2014/main" id="{A5956895-BD9A-06BC-1C0A-F453514E6D5C}"/>
              </a:ext>
            </a:extLst>
          </p:cNvPr>
          <p:cNvSpPr>
            <a:spLocks noGrp="1"/>
          </p:cNvSpPr>
          <p:nvPr>
            <p:ph type="subTitle" idx="1"/>
          </p:nvPr>
        </p:nvSpPr>
        <p:spPr/>
        <p:txBody>
          <a:bodyPr/>
          <a:lstStyle/>
          <a:p>
            <a:endParaRPr lang="en-DE"/>
          </a:p>
        </p:txBody>
      </p:sp>
    </p:spTree>
    <p:extLst>
      <p:ext uri="{BB962C8B-B14F-4D97-AF65-F5344CB8AC3E}">
        <p14:creationId xmlns:p14="http://schemas.microsoft.com/office/powerpoint/2010/main" val="2002261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202E259C-AF99-D202-61F0-969BC2B15FFA}"/>
              </a:ext>
            </a:extLst>
          </p:cNvPr>
          <p:cNvGraphicFramePr>
            <a:graphicFrameLocks/>
          </p:cNvGraphicFramePr>
          <p:nvPr>
            <p:extLst>
              <p:ext uri="{D42A27DB-BD31-4B8C-83A1-F6EECF244321}">
                <p14:modId xmlns:p14="http://schemas.microsoft.com/office/powerpoint/2010/main" val="4046725020"/>
              </p:ext>
            </p:extLst>
          </p:nvPr>
        </p:nvGraphicFramePr>
        <p:xfrm>
          <a:off x="3757703" y="5790688"/>
          <a:ext cx="655464" cy="3011029"/>
        </p:xfrm>
        <a:graphic>
          <a:graphicData uri="http://schemas.openxmlformats.org/drawingml/2006/chart">
            <c:chart xmlns:c="http://schemas.openxmlformats.org/drawingml/2006/chart" xmlns:r="http://schemas.openxmlformats.org/officeDocument/2006/relationships" r:id="rId3"/>
          </a:graphicData>
        </a:graphic>
      </p:graphicFrame>
      <p:sp>
        <p:nvSpPr>
          <p:cNvPr id="9" name="Rounded Rectangle 8">
            <a:extLst>
              <a:ext uri="{FF2B5EF4-FFF2-40B4-BE49-F238E27FC236}">
                <a16:creationId xmlns:a16="http://schemas.microsoft.com/office/drawing/2014/main" id="{E83A5ACE-ACA8-0FD7-7E66-7853811691FB}"/>
              </a:ext>
            </a:extLst>
          </p:cNvPr>
          <p:cNvSpPr/>
          <p:nvPr/>
        </p:nvSpPr>
        <p:spPr>
          <a:xfrm>
            <a:off x="5163189" y="5950734"/>
            <a:ext cx="3902105" cy="758914"/>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1000" dirty="0">
                <a:solidFill>
                  <a:schemeClr val="tx1"/>
                </a:solidFill>
              </a:rPr>
              <a:t>86 % (n = 126) | </a:t>
            </a:r>
            <a:r>
              <a:rPr lang="en-DE" sz="1000" b="1" dirty="0">
                <a:solidFill>
                  <a:schemeClr val="tx1"/>
                </a:solidFill>
              </a:rPr>
              <a:t>Client-facing applications</a:t>
            </a:r>
          </a:p>
          <a:p>
            <a:pPr>
              <a:spcBef>
                <a:spcPts val="200"/>
              </a:spcBef>
            </a:pPr>
            <a:r>
              <a:rPr lang="en-DE" sz="900" dirty="0">
                <a:solidFill>
                  <a:schemeClr val="tx1"/>
                </a:solidFill>
              </a:rPr>
              <a:t>Applications intended to provide users therapeutic interventions or emotional support</a:t>
            </a:r>
          </a:p>
        </p:txBody>
      </p:sp>
      <p:sp>
        <p:nvSpPr>
          <p:cNvPr id="2" name="Rounded Rectangle 1">
            <a:extLst>
              <a:ext uri="{FF2B5EF4-FFF2-40B4-BE49-F238E27FC236}">
                <a16:creationId xmlns:a16="http://schemas.microsoft.com/office/drawing/2014/main" id="{C2E60971-1080-DE55-FF1B-3B3A36DECCE1}"/>
              </a:ext>
            </a:extLst>
          </p:cNvPr>
          <p:cNvSpPr/>
          <p:nvPr/>
        </p:nvSpPr>
        <p:spPr>
          <a:xfrm>
            <a:off x="5163181" y="6851529"/>
            <a:ext cx="3902106" cy="758914"/>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1000" dirty="0">
                <a:solidFill>
                  <a:schemeClr val="tx1"/>
                </a:solidFill>
              </a:rPr>
              <a:t>7 % (n = 10) | </a:t>
            </a:r>
            <a:r>
              <a:rPr lang="en-DE" sz="1000" b="1" dirty="0">
                <a:solidFill>
                  <a:schemeClr val="tx1"/>
                </a:solidFill>
              </a:rPr>
              <a:t>Text-based prediction</a:t>
            </a:r>
          </a:p>
          <a:p>
            <a:pPr>
              <a:spcBef>
                <a:spcPts val="200"/>
              </a:spcBef>
            </a:pPr>
            <a:r>
              <a:rPr lang="en-DE" sz="900" dirty="0">
                <a:solidFill>
                  <a:schemeClr val="tx1"/>
                </a:solidFill>
              </a:rPr>
              <a:t>Applications that predict/detect a clinical or therapeutic construct in the utterances or users and help providers, e.g. therapeutic alliance, depression severity, therapeutic fidelity</a:t>
            </a:r>
          </a:p>
        </p:txBody>
      </p:sp>
      <p:sp>
        <p:nvSpPr>
          <p:cNvPr id="3" name="Rounded Rectangle 2">
            <a:extLst>
              <a:ext uri="{FF2B5EF4-FFF2-40B4-BE49-F238E27FC236}">
                <a16:creationId xmlns:a16="http://schemas.microsoft.com/office/drawing/2014/main" id="{FC153C0C-EA87-FEA4-565D-972BEACAD6AE}"/>
              </a:ext>
            </a:extLst>
          </p:cNvPr>
          <p:cNvSpPr/>
          <p:nvPr/>
        </p:nvSpPr>
        <p:spPr>
          <a:xfrm>
            <a:off x="5163187" y="7752325"/>
            <a:ext cx="3902107" cy="758914"/>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1000" dirty="0">
                <a:solidFill>
                  <a:schemeClr val="tx1"/>
                </a:solidFill>
              </a:rPr>
              <a:t>6 % (n = 9) | </a:t>
            </a:r>
            <a:r>
              <a:rPr lang="en-DE" sz="1000" b="1" dirty="0">
                <a:solidFill>
                  <a:schemeClr val="tx1"/>
                </a:solidFill>
              </a:rPr>
              <a:t>Therapist guidance applications</a:t>
            </a:r>
          </a:p>
          <a:p>
            <a:pPr>
              <a:spcBef>
                <a:spcPts val="200"/>
              </a:spcBef>
            </a:pPr>
            <a:r>
              <a:rPr lang="en-DE" sz="900" dirty="0">
                <a:solidFill>
                  <a:schemeClr val="tx1"/>
                </a:solidFill>
              </a:rPr>
              <a:t>Applications intended to improve therapist performance by monitoring therapy sessions and suggesting therapeutic responses or improvements to the therapist’s language (e.g., what to say next)</a:t>
            </a:r>
          </a:p>
        </p:txBody>
      </p:sp>
      <p:sp>
        <p:nvSpPr>
          <p:cNvPr id="5" name="Oval 4">
            <a:extLst>
              <a:ext uri="{FF2B5EF4-FFF2-40B4-BE49-F238E27FC236}">
                <a16:creationId xmlns:a16="http://schemas.microsoft.com/office/drawing/2014/main" id="{85877EAE-B031-299A-F57F-9FE27DD1D6DA}"/>
              </a:ext>
            </a:extLst>
          </p:cNvPr>
          <p:cNvSpPr/>
          <p:nvPr/>
        </p:nvSpPr>
        <p:spPr>
          <a:xfrm>
            <a:off x="4237358" y="8483213"/>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 name="Oval 6">
            <a:extLst>
              <a:ext uri="{FF2B5EF4-FFF2-40B4-BE49-F238E27FC236}">
                <a16:creationId xmlns:a16="http://schemas.microsoft.com/office/drawing/2014/main" id="{B3A1E0F5-3A00-1137-3709-6728719F06FF}"/>
              </a:ext>
            </a:extLst>
          </p:cNvPr>
          <p:cNvSpPr/>
          <p:nvPr/>
        </p:nvSpPr>
        <p:spPr>
          <a:xfrm>
            <a:off x="5135154" y="7902188"/>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0" name="Oval 9">
            <a:extLst>
              <a:ext uri="{FF2B5EF4-FFF2-40B4-BE49-F238E27FC236}">
                <a16:creationId xmlns:a16="http://schemas.microsoft.com/office/drawing/2014/main" id="{EDCD852D-ABF9-A1FD-DB20-FD1EB1D49804}"/>
              </a:ext>
            </a:extLst>
          </p:cNvPr>
          <p:cNvSpPr/>
          <p:nvPr/>
        </p:nvSpPr>
        <p:spPr>
          <a:xfrm>
            <a:off x="5135154" y="7001393"/>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Oval 10">
            <a:extLst>
              <a:ext uri="{FF2B5EF4-FFF2-40B4-BE49-F238E27FC236}">
                <a16:creationId xmlns:a16="http://schemas.microsoft.com/office/drawing/2014/main" id="{F27AE919-9536-CDB0-6566-3BB1D31212E1}"/>
              </a:ext>
            </a:extLst>
          </p:cNvPr>
          <p:cNvSpPr/>
          <p:nvPr/>
        </p:nvSpPr>
        <p:spPr>
          <a:xfrm>
            <a:off x="5135154" y="6100597"/>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Oval 11">
            <a:extLst>
              <a:ext uri="{FF2B5EF4-FFF2-40B4-BE49-F238E27FC236}">
                <a16:creationId xmlns:a16="http://schemas.microsoft.com/office/drawing/2014/main" id="{72B01329-381A-EA61-150A-B4DFCC96D688}"/>
              </a:ext>
            </a:extLst>
          </p:cNvPr>
          <p:cNvSpPr/>
          <p:nvPr/>
        </p:nvSpPr>
        <p:spPr>
          <a:xfrm>
            <a:off x="4237357" y="8314938"/>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3" name="Oval 12">
            <a:extLst>
              <a:ext uri="{FF2B5EF4-FFF2-40B4-BE49-F238E27FC236}">
                <a16:creationId xmlns:a16="http://schemas.microsoft.com/office/drawing/2014/main" id="{44431CE5-3D58-6AFC-6186-6B4A2555FC6D}"/>
              </a:ext>
            </a:extLst>
          </p:cNvPr>
          <p:cNvSpPr/>
          <p:nvPr/>
        </p:nvSpPr>
        <p:spPr>
          <a:xfrm>
            <a:off x="4237357" y="6973360"/>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5" name="Straight Connector 14">
            <a:extLst>
              <a:ext uri="{FF2B5EF4-FFF2-40B4-BE49-F238E27FC236}">
                <a16:creationId xmlns:a16="http://schemas.microsoft.com/office/drawing/2014/main" id="{E92EE08C-B735-6FD2-FE9F-EA5F9D8A4693}"/>
              </a:ext>
            </a:extLst>
          </p:cNvPr>
          <p:cNvCxnSpPr>
            <a:cxnSpLocks/>
          </p:cNvCxnSpPr>
          <p:nvPr/>
        </p:nvCxnSpPr>
        <p:spPr>
          <a:xfrm>
            <a:off x="4293415" y="7001385"/>
            <a:ext cx="26191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69B3B42-8EC2-06C4-602B-59344C9DDFE3}"/>
              </a:ext>
            </a:extLst>
          </p:cNvPr>
          <p:cNvCxnSpPr>
            <a:cxnSpLocks/>
            <a:endCxn id="11" idx="3"/>
          </p:cNvCxnSpPr>
          <p:nvPr/>
        </p:nvCxnSpPr>
        <p:spPr>
          <a:xfrm flipV="1">
            <a:off x="4555338" y="6148451"/>
            <a:ext cx="588027" cy="8529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D99E85D-B60F-EE88-C85F-5EFA7E181083}"/>
              </a:ext>
            </a:extLst>
          </p:cNvPr>
          <p:cNvCxnSpPr>
            <a:cxnSpLocks/>
            <a:stCxn id="12" idx="6"/>
          </p:cNvCxnSpPr>
          <p:nvPr/>
        </p:nvCxnSpPr>
        <p:spPr>
          <a:xfrm>
            <a:off x="4293415" y="8342964"/>
            <a:ext cx="26191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D70CBE34-E691-3932-A190-5491D9B7EF98}"/>
              </a:ext>
            </a:extLst>
          </p:cNvPr>
          <p:cNvCxnSpPr>
            <a:cxnSpLocks/>
            <a:stCxn id="5" idx="6"/>
          </p:cNvCxnSpPr>
          <p:nvPr/>
        </p:nvCxnSpPr>
        <p:spPr>
          <a:xfrm>
            <a:off x="4293423" y="8511239"/>
            <a:ext cx="26191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66DAFC1A-72AA-5AB4-46F1-66009D64A04D}"/>
              </a:ext>
            </a:extLst>
          </p:cNvPr>
          <p:cNvCxnSpPr>
            <a:cxnSpLocks/>
            <a:endCxn id="10" idx="3"/>
          </p:cNvCxnSpPr>
          <p:nvPr/>
        </p:nvCxnSpPr>
        <p:spPr>
          <a:xfrm flipV="1">
            <a:off x="4555338" y="7049247"/>
            <a:ext cx="588027" cy="129372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C425EE75-2F63-A27F-A949-A4A2A802A5F3}"/>
              </a:ext>
            </a:extLst>
          </p:cNvPr>
          <p:cNvCxnSpPr>
            <a:cxnSpLocks/>
            <a:endCxn id="7" idx="3"/>
          </p:cNvCxnSpPr>
          <p:nvPr/>
        </p:nvCxnSpPr>
        <p:spPr>
          <a:xfrm flipV="1">
            <a:off x="4555338" y="7950042"/>
            <a:ext cx="588027" cy="56120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pic>
        <p:nvPicPr>
          <p:cNvPr id="63" name="Graphic 62">
            <a:extLst>
              <a:ext uri="{FF2B5EF4-FFF2-40B4-BE49-F238E27FC236}">
                <a16:creationId xmlns:a16="http://schemas.microsoft.com/office/drawing/2014/main" id="{B446468D-8633-5CC0-520E-73CE8E000F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48203" y="9235554"/>
            <a:ext cx="4934712" cy="3038616"/>
          </a:xfrm>
          <a:prstGeom prst="rect">
            <a:avLst/>
          </a:prstGeom>
        </p:spPr>
      </p:pic>
      <p:sp>
        <p:nvSpPr>
          <p:cNvPr id="64" name="TextBox 63">
            <a:extLst>
              <a:ext uri="{FF2B5EF4-FFF2-40B4-BE49-F238E27FC236}">
                <a16:creationId xmlns:a16="http://schemas.microsoft.com/office/drawing/2014/main" id="{3E6EF9C4-2E44-7358-3BA6-DD9E77D08F2E}"/>
              </a:ext>
            </a:extLst>
          </p:cNvPr>
          <p:cNvSpPr txBox="1"/>
          <p:nvPr/>
        </p:nvSpPr>
        <p:spPr>
          <a:xfrm>
            <a:off x="3754757" y="5503181"/>
            <a:ext cx="482600" cy="369332"/>
          </a:xfrm>
          <a:prstGeom prst="rect">
            <a:avLst/>
          </a:prstGeom>
          <a:noFill/>
        </p:spPr>
        <p:txBody>
          <a:bodyPr wrap="square" rtlCol="0">
            <a:spAutoFit/>
          </a:bodyPr>
          <a:lstStyle/>
          <a:p>
            <a:r>
              <a:rPr lang="en-DE" b="1" dirty="0"/>
              <a:t>A</a:t>
            </a:r>
          </a:p>
        </p:txBody>
      </p:sp>
      <p:sp>
        <p:nvSpPr>
          <p:cNvPr id="65" name="TextBox 64">
            <a:extLst>
              <a:ext uri="{FF2B5EF4-FFF2-40B4-BE49-F238E27FC236}">
                <a16:creationId xmlns:a16="http://schemas.microsoft.com/office/drawing/2014/main" id="{FF9C1EC2-1705-6EF5-C0C9-990B15BAF7E2}"/>
              </a:ext>
            </a:extLst>
          </p:cNvPr>
          <p:cNvSpPr txBox="1"/>
          <p:nvPr/>
        </p:nvSpPr>
        <p:spPr>
          <a:xfrm>
            <a:off x="3754757" y="9050888"/>
            <a:ext cx="482600" cy="369332"/>
          </a:xfrm>
          <a:prstGeom prst="rect">
            <a:avLst/>
          </a:prstGeom>
          <a:noFill/>
        </p:spPr>
        <p:txBody>
          <a:bodyPr wrap="square" rtlCol="0">
            <a:spAutoFit/>
          </a:bodyPr>
          <a:lstStyle/>
          <a:p>
            <a:r>
              <a:rPr lang="en-DE" b="1" dirty="0"/>
              <a:t>B</a:t>
            </a:r>
          </a:p>
        </p:txBody>
      </p:sp>
    </p:spTree>
    <p:extLst>
      <p:ext uri="{BB962C8B-B14F-4D97-AF65-F5344CB8AC3E}">
        <p14:creationId xmlns:p14="http://schemas.microsoft.com/office/powerpoint/2010/main" val="2421055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ounded Rectangle 18">
            <a:extLst>
              <a:ext uri="{FF2B5EF4-FFF2-40B4-BE49-F238E27FC236}">
                <a16:creationId xmlns:a16="http://schemas.microsoft.com/office/drawing/2014/main" id="{FD76A557-999A-B1DF-D6E8-22583A0A2553}"/>
              </a:ext>
            </a:extLst>
          </p:cNvPr>
          <p:cNvSpPr/>
          <p:nvPr/>
        </p:nvSpPr>
        <p:spPr>
          <a:xfrm>
            <a:off x="5135155" y="5371865"/>
            <a:ext cx="4146498" cy="3084848"/>
          </a:xfrm>
          <a:prstGeom prst="roundRect">
            <a:avLst>
              <a:gd name="adj" fmla="val 3502"/>
            </a:avLst>
          </a:prstGeom>
          <a:solidFill>
            <a:srgbClr val="028DFF">
              <a:alpha val="19538"/>
            </a:srgbClr>
          </a:solidFill>
          <a:ln w="15875">
            <a:solidFill>
              <a:srgbClr val="028DFF"/>
            </a:solidFill>
          </a:ln>
        </p:spPr>
        <p:style>
          <a:lnRef idx="2">
            <a:schemeClr val="accent1">
              <a:shade val="15000"/>
            </a:schemeClr>
          </a:lnRef>
          <a:fillRef idx="1">
            <a:schemeClr val="accent1"/>
          </a:fillRef>
          <a:effectRef idx="0">
            <a:schemeClr val="accent1"/>
          </a:effectRef>
          <a:fontRef idx="minor">
            <a:schemeClr val="lt1"/>
          </a:fontRef>
        </p:style>
        <p:txBody>
          <a:bodyPr rIns="1980000" rtlCol="0" anchor="t"/>
          <a:lstStyle/>
          <a:p>
            <a:r>
              <a:rPr lang="en-DE" sz="1000" b="1" dirty="0">
                <a:solidFill>
                  <a:schemeClr val="tx1"/>
                </a:solidFill>
              </a:rPr>
              <a:t>106 articles (87 %)</a:t>
            </a:r>
          </a:p>
          <a:p>
            <a:r>
              <a:rPr lang="en-DE" sz="1000" b="1" dirty="0">
                <a:solidFill>
                  <a:schemeClr val="tx1"/>
                </a:solidFill>
              </a:rPr>
              <a:t>Client-facing applications</a:t>
            </a:r>
          </a:p>
          <a:p>
            <a:pPr>
              <a:spcBef>
                <a:spcPts val="200"/>
              </a:spcBef>
            </a:pPr>
            <a:r>
              <a:rPr lang="en-DE" sz="900" dirty="0">
                <a:solidFill>
                  <a:schemeClr val="tx1"/>
                </a:solidFill>
              </a:rPr>
              <a:t>Applications intended to provide users therapeutic interventions or emotional support</a:t>
            </a:r>
          </a:p>
        </p:txBody>
      </p:sp>
      <p:sp>
        <p:nvSpPr>
          <p:cNvPr id="20" name="Rounded Rectangle 19">
            <a:extLst>
              <a:ext uri="{FF2B5EF4-FFF2-40B4-BE49-F238E27FC236}">
                <a16:creationId xmlns:a16="http://schemas.microsoft.com/office/drawing/2014/main" id="{47FA3BEF-A802-DF0A-25A4-46C37EEE40E4}"/>
              </a:ext>
            </a:extLst>
          </p:cNvPr>
          <p:cNvSpPr/>
          <p:nvPr/>
        </p:nvSpPr>
        <p:spPr>
          <a:xfrm>
            <a:off x="5135155" y="10281020"/>
            <a:ext cx="4146498" cy="888417"/>
          </a:xfrm>
          <a:prstGeom prst="roundRect">
            <a:avLst>
              <a:gd name="adj" fmla="val 14076"/>
            </a:avLst>
          </a:prstGeom>
          <a:solidFill>
            <a:srgbClr val="FF9E3A">
              <a:alpha val="20057"/>
            </a:srgbClr>
          </a:solidFill>
          <a:ln w="15875">
            <a:solidFill>
              <a:srgbClr val="FF9E3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1000" dirty="0">
                <a:solidFill>
                  <a:schemeClr val="tx1"/>
                </a:solidFill>
              </a:rPr>
              <a:t>10 articles (7 %)</a:t>
            </a:r>
          </a:p>
          <a:p>
            <a:r>
              <a:rPr lang="en-DE" sz="1000" b="1" dirty="0">
                <a:solidFill>
                  <a:schemeClr val="tx1"/>
                </a:solidFill>
              </a:rPr>
              <a:t>Text-based prediction</a:t>
            </a:r>
          </a:p>
          <a:p>
            <a:pPr>
              <a:spcBef>
                <a:spcPts val="200"/>
              </a:spcBef>
            </a:pPr>
            <a:r>
              <a:rPr lang="en-DE" sz="900" dirty="0">
                <a:solidFill>
                  <a:schemeClr val="tx1"/>
                </a:solidFill>
              </a:rPr>
              <a:t>Applications that predict/detect a clinical or therapeutic construct in the utterances or users and help providers, e.g. therapeutic alliance, depression severity, therapeutic fidelity</a:t>
            </a:r>
          </a:p>
        </p:txBody>
      </p:sp>
      <p:sp>
        <p:nvSpPr>
          <p:cNvPr id="21" name="Rounded Rectangle 20">
            <a:extLst>
              <a:ext uri="{FF2B5EF4-FFF2-40B4-BE49-F238E27FC236}">
                <a16:creationId xmlns:a16="http://schemas.microsoft.com/office/drawing/2014/main" id="{299A2FB8-D610-DF27-69BB-DC3A321B46CA}"/>
              </a:ext>
            </a:extLst>
          </p:cNvPr>
          <p:cNvSpPr/>
          <p:nvPr/>
        </p:nvSpPr>
        <p:spPr>
          <a:xfrm>
            <a:off x="5135155" y="8587913"/>
            <a:ext cx="4146498" cy="1561908"/>
          </a:xfrm>
          <a:prstGeom prst="roundRect">
            <a:avLst>
              <a:gd name="adj" fmla="val 5433"/>
            </a:avLst>
          </a:prstGeom>
          <a:solidFill>
            <a:srgbClr val="4DCC8D">
              <a:alpha val="20000"/>
            </a:srgbClr>
          </a:solidFill>
          <a:ln w="15875">
            <a:solidFill>
              <a:srgbClr val="4DCC8E"/>
            </a:solidFill>
          </a:ln>
        </p:spPr>
        <p:style>
          <a:lnRef idx="2">
            <a:schemeClr val="accent1">
              <a:shade val="15000"/>
            </a:schemeClr>
          </a:lnRef>
          <a:fillRef idx="1">
            <a:schemeClr val="accent1"/>
          </a:fillRef>
          <a:effectRef idx="0">
            <a:schemeClr val="accent1"/>
          </a:effectRef>
          <a:fontRef idx="minor">
            <a:schemeClr val="lt1"/>
          </a:fontRef>
        </p:style>
        <p:txBody>
          <a:bodyPr rIns="1980000" rtlCol="0" anchor="t"/>
          <a:lstStyle/>
          <a:p>
            <a:r>
              <a:rPr lang="en-DE" sz="1000" dirty="0">
                <a:solidFill>
                  <a:schemeClr val="tx1"/>
                </a:solidFill>
              </a:rPr>
              <a:t>9 articles (6 %)</a:t>
            </a:r>
          </a:p>
          <a:p>
            <a:r>
              <a:rPr lang="en-DE" sz="1000" b="1" dirty="0">
                <a:solidFill>
                  <a:schemeClr val="tx1"/>
                </a:solidFill>
              </a:rPr>
              <a:t>Therapist guidance applications</a:t>
            </a:r>
          </a:p>
          <a:p>
            <a:pPr>
              <a:spcBef>
                <a:spcPts val="200"/>
              </a:spcBef>
            </a:pPr>
            <a:r>
              <a:rPr lang="en-DE" sz="900" dirty="0">
                <a:solidFill>
                  <a:schemeClr val="tx1"/>
                </a:solidFill>
              </a:rPr>
              <a:t>Applications intended to improve therapist performance by monitoring therapy sessions and suggesting therapeutic responses or improvements to the therapist’s language (e.g., what to say next)</a:t>
            </a:r>
          </a:p>
        </p:txBody>
      </p:sp>
      <p:sp>
        <p:nvSpPr>
          <p:cNvPr id="22" name="Oval 21">
            <a:extLst>
              <a:ext uri="{FF2B5EF4-FFF2-40B4-BE49-F238E27FC236}">
                <a16:creationId xmlns:a16="http://schemas.microsoft.com/office/drawing/2014/main" id="{0E40E781-1D69-ED0E-2FBD-05C018D15D03}"/>
              </a:ext>
            </a:extLst>
          </p:cNvPr>
          <p:cNvSpPr/>
          <p:nvPr/>
        </p:nvSpPr>
        <p:spPr>
          <a:xfrm>
            <a:off x="5107122" y="8759898"/>
            <a:ext cx="56065" cy="56065"/>
          </a:xfrm>
          <a:prstGeom prst="ellipse">
            <a:avLst/>
          </a:prstGeom>
          <a:solidFill>
            <a:srgbClr val="4DCC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 name="Oval 22">
            <a:extLst>
              <a:ext uri="{FF2B5EF4-FFF2-40B4-BE49-F238E27FC236}">
                <a16:creationId xmlns:a16="http://schemas.microsoft.com/office/drawing/2014/main" id="{0224C43E-5BFD-0483-AFFF-6462BFC5E856}"/>
              </a:ext>
            </a:extLst>
          </p:cNvPr>
          <p:cNvSpPr/>
          <p:nvPr/>
        </p:nvSpPr>
        <p:spPr>
          <a:xfrm>
            <a:off x="5107122" y="5549767"/>
            <a:ext cx="56065" cy="56065"/>
          </a:xfrm>
          <a:prstGeom prst="ellipse">
            <a:avLst/>
          </a:prstGeom>
          <a:solidFill>
            <a:srgbClr val="028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aphicFrame>
        <p:nvGraphicFramePr>
          <p:cNvPr id="25" name="Chart 24">
            <a:extLst>
              <a:ext uri="{FF2B5EF4-FFF2-40B4-BE49-F238E27FC236}">
                <a16:creationId xmlns:a16="http://schemas.microsoft.com/office/drawing/2014/main" id="{7143DB1D-D961-220C-C7B9-5A879EBDDF6B}"/>
              </a:ext>
            </a:extLst>
          </p:cNvPr>
          <p:cNvGraphicFramePr>
            <a:graphicFrameLocks/>
          </p:cNvGraphicFramePr>
          <p:nvPr>
            <p:extLst>
              <p:ext uri="{D42A27DB-BD31-4B8C-83A1-F6EECF244321}">
                <p14:modId xmlns:p14="http://schemas.microsoft.com/office/powerpoint/2010/main" val="1880378341"/>
              </p:ext>
            </p:extLst>
          </p:nvPr>
        </p:nvGraphicFramePr>
        <p:xfrm>
          <a:off x="2577664" y="5371865"/>
          <a:ext cx="2242857" cy="2451454"/>
        </p:xfrm>
        <a:graphic>
          <a:graphicData uri="http://schemas.openxmlformats.org/drawingml/2006/chart">
            <c:chart xmlns:c="http://schemas.openxmlformats.org/drawingml/2006/chart" xmlns:r="http://schemas.openxmlformats.org/officeDocument/2006/relationships" r:id="rId2"/>
          </a:graphicData>
        </a:graphic>
      </p:graphicFrame>
      <p:sp>
        <p:nvSpPr>
          <p:cNvPr id="26" name="Rounded Rectangle 25">
            <a:extLst>
              <a:ext uri="{FF2B5EF4-FFF2-40B4-BE49-F238E27FC236}">
                <a16:creationId xmlns:a16="http://schemas.microsoft.com/office/drawing/2014/main" id="{80702432-AA1B-1267-389B-C30304225AEA}"/>
              </a:ext>
            </a:extLst>
          </p:cNvPr>
          <p:cNvSpPr/>
          <p:nvPr/>
        </p:nvSpPr>
        <p:spPr>
          <a:xfrm>
            <a:off x="7386065" y="5455566"/>
            <a:ext cx="1797264" cy="420569"/>
          </a:xfrm>
          <a:prstGeom prst="roundRect">
            <a:avLst/>
          </a:prstGeom>
          <a:noFill/>
          <a:ln w="9525">
            <a:solidFill>
              <a:srgbClr val="028DFF"/>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b="1" dirty="0">
                <a:solidFill>
                  <a:schemeClr val="tx1"/>
                </a:solidFill>
              </a:rPr>
              <a:t>79 articles (75 %)</a:t>
            </a:r>
          </a:p>
          <a:p>
            <a:r>
              <a:rPr lang="en-DE" sz="900" dirty="0">
                <a:solidFill>
                  <a:schemeClr val="tx1"/>
                </a:solidFill>
              </a:rPr>
              <a:t>Multi-turn (conversational) chatbots</a:t>
            </a:r>
            <a:endParaRPr lang="en-DE" sz="800" dirty="0">
              <a:solidFill>
                <a:schemeClr val="tx1"/>
              </a:solidFill>
            </a:endParaRPr>
          </a:p>
        </p:txBody>
      </p:sp>
      <p:sp>
        <p:nvSpPr>
          <p:cNvPr id="27" name="Rounded Rectangle 26">
            <a:extLst>
              <a:ext uri="{FF2B5EF4-FFF2-40B4-BE49-F238E27FC236}">
                <a16:creationId xmlns:a16="http://schemas.microsoft.com/office/drawing/2014/main" id="{97362A2A-844C-C9E0-1AD3-00F0E7CD524A}"/>
              </a:ext>
            </a:extLst>
          </p:cNvPr>
          <p:cNvSpPr/>
          <p:nvPr/>
        </p:nvSpPr>
        <p:spPr>
          <a:xfrm>
            <a:off x="7386065" y="5929836"/>
            <a:ext cx="1797264" cy="539790"/>
          </a:xfrm>
          <a:prstGeom prst="roundRect">
            <a:avLst/>
          </a:prstGeom>
          <a:noFill/>
          <a:ln w="9525">
            <a:solidFill>
              <a:srgbClr val="028DFF"/>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b="1" dirty="0">
                <a:solidFill>
                  <a:schemeClr val="tx1"/>
                </a:solidFill>
              </a:rPr>
              <a:t>16 articles (13 %)</a:t>
            </a:r>
          </a:p>
          <a:p>
            <a:r>
              <a:rPr lang="en-DE" sz="900" dirty="0">
                <a:solidFill>
                  <a:schemeClr val="tx1"/>
                </a:solidFill>
              </a:rPr>
              <a:t>Single-turn (question answering) chatbots</a:t>
            </a:r>
            <a:endParaRPr lang="en-DE" sz="800" dirty="0">
              <a:solidFill>
                <a:schemeClr val="tx1"/>
              </a:solidFill>
            </a:endParaRPr>
          </a:p>
        </p:txBody>
      </p:sp>
      <p:sp>
        <p:nvSpPr>
          <p:cNvPr id="28" name="Rounded Rectangle 27">
            <a:extLst>
              <a:ext uri="{FF2B5EF4-FFF2-40B4-BE49-F238E27FC236}">
                <a16:creationId xmlns:a16="http://schemas.microsoft.com/office/drawing/2014/main" id="{21969E39-CF2C-6952-B58D-C54A8AEC8635}"/>
              </a:ext>
            </a:extLst>
          </p:cNvPr>
          <p:cNvSpPr/>
          <p:nvPr/>
        </p:nvSpPr>
        <p:spPr>
          <a:xfrm>
            <a:off x="7386065" y="6523327"/>
            <a:ext cx="1797264" cy="420569"/>
          </a:xfrm>
          <a:prstGeom prst="roundRect">
            <a:avLst/>
          </a:prstGeom>
          <a:noFill/>
          <a:ln w="9525">
            <a:solidFill>
              <a:srgbClr val="028DFF"/>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b="1" dirty="0">
                <a:solidFill>
                  <a:schemeClr val="tx1"/>
                </a:solidFill>
              </a:rPr>
              <a:t>3 articles (2 %)</a:t>
            </a:r>
          </a:p>
          <a:p>
            <a:r>
              <a:rPr lang="en-DE" sz="900" dirty="0">
                <a:solidFill>
                  <a:schemeClr val="tx1"/>
                </a:solidFill>
              </a:rPr>
              <a:t>Spoken dialogue systems</a:t>
            </a:r>
            <a:endParaRPr lang="en-DE" sz="800" dirty="0">
              <a:solidFill>
                <a:schemeClr val="tx1"/>
              </a:solidFill>
            </a:endParaRPr>
          </a:p>
        </p:txBody>
      </p:sp>
      <p:sp>
        <p:nvSpPr>
          <p:cNvPr id="29" name="Rounded Rectangle 28">
            <a:extLst>
              <a:ext uri="{FF2B5EF4-FFF2-40B4-BE49-F238E27FC236}">
                <a16:creationId xmlns:a16="http://schemas.microsoft.com/office/drawing/2014/main" id="{0EEB363E-02B4-27C8-97B0-FCA6032AADD7}"/>
              </a:ext>
            </a:extLst>
          </p:cNvPr>
          <p:cNvSpPr/>
          <p:nvPr/>
        </p:nvSpPr>
        <p:spPr>
          <a:xfrm>
            <a:off x="7386065" y="6997597"/>
            <a:ext cx="1797264" cy="420569"/>
          </a:xfrm>
          <a:prstGeom prst="roundRect">
            <a:avLst/>
          </a:prstGeom>
          <a:noFill/>
          <a:ln w="9525">
            <a:solidFill>
              <a:srgbClr val="028DFF"/>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b="1" dirty="0">
                <a:solidFill>
                  <a:schemeClr val="tx1"/>
                </a:solidFill>
              </a:rPr>
              <a:t>2 articles (2 %)</a:t>
            </a:r>
          </a:p>
          <a:p>
            <a:r>
              <a:rPr lang="en-DE" sz="900" dirty="0">
                <a:solidFill>
                  <a:schemeClr val="tx1"/>
                </a:solidFill>
              </a:rPr>
              <a:t>Multi-modal dialogue systems</a:t>
            </a:r>
            <a:endParaRPr lang="en-DE" sz="800" dirty="0">
              <a:solidFill>
                <a:schemeClr val="tx1"/>
              </a:solidFill>
            </a:endParaRPr>
          </a:p>
        </p:txBody>
      </p:sp>
      <p:sp>
        <p:nvSpPr>
          <p:cNvPr id="30" name="Rounded Rectangle 29">
            <a:extLst>
              <a:ext uri="{FF2B5EF4-FFF2-40B4-BE49-F238E27FC236}">
                <a16:creationId xmlns:a16="http://schemas.microsoft.com/office/drawing/2014/main" id="{7FA788F0-A7A2-C3D4-CE29-512B5B63319E}"/>
              </a:ext>
            </a:extLst>
          </p:cNvPr>
          <p:cNvSpPr/>
          <p:nvPr/>
        </p:nvSpPr>
        <p:spPr>
          <a:xfrm>
            <a:off x="7386065" y="7471867"/>
            <a:ext cx="1797264" cy="420569"/>
          </a:xfrm>
          <a:prstGeom prst="roundRect">
            <a:avLst/>
          </a:prstGeom>
          <a:noFill/>
          <a:ln w="9525">
            <a:solidFill>
              <a:srgbClr val="028DFF"/>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b="1" dirty="0">
                <a:solidFill>
                  <a:schemeClr val="tx1"/>
                </a:solidFill>
              </a:rPr>
              <a:t>2 articles (2 %)</a:t>
            </a:r>
          </a:p>
          <a:p>
            <a:r>
              <a:rPr lang="en-DE" sz="900" dirty="0">
                <a:solidFill>
                  <a:schemeClr val="tx1"/>
                </a:solidFill>
              </a:rPr>
              <a:t>Emotional reflection generation</a:t>
            </a:r>
            <a:endParaRPr lang="en-DE" sz="800" dirty="0">
              <a:solidFill>
                <a:schemeClr val="tx1"/>
              </a:solidFill>
            </a:endParaRPr>
          </a:p>
        </p:txBody>
      </p:sp>
      <p:sp>
        <p:nvSpPr>
          <p:cNvPr id="31" name="Rounded Rectangle 30">
            <a:extLst>
              <a:ext uri="{FF2B5EF4-FFF2-40B4-BE49-F238E27FC236}">
                <a16:creationId xmlns:a16="http://schemas.microsoft.com/office/drawing/2014/main" id="{FD65A297-23E9-54FC-5595-4F78058CC326}"/>
              </a:ext>
            </a:extLst>
          </p:cNvPr>
          <p:cNvSpPr/>
          <p:nvPr/>
        </p:nvSpPr>
        <p:spPr>
          <a:xfrm>
            <a:off x="7386065" y="7946137"/>
            <a:ext cx="1797264" cy="420569"/>
          </a:xfrm>
          <a:prstGeom prst="roundRect">
            <a:avLst/>
          </a:prstGeom>
          <a:noFill/>
          <a:ln w="9525">
            <a:solidFill>
              <a:srgbClr val="028DFF"/>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b="1" dirty="0">
                <a:solidFill>
                  <a:schemeClr val="tx1"/>
                </a:solidFill>
              </a:rPr>
              <a:t>2 articles (2 %)</a:t>
            </a:r>
          </a:p>
          <a:p>
            <a:r>
              <a:rPr lang="en-DE" sz="900" dirty="0">
                <a:solidFill>
                  <a:schemeClr val="tx1"/>
                </a:solidFill>
              </a:rPr>
              <a:t>Reframed thought generation</a:t>
            </a:r>
            <a:endParaRPr lang="en-DE" sz="800" dirty="0">
              <a:solidFill>
                <a:schemeClr val="tx1"/>
              </a:solidFill>
            </a:endParaRPr>
          </a:p>
        </p:txBody>
      </p:sp>
      <p:sp>
        <p:nvSpPr>
          <p:cNvPr id="32" name="Rounded Rectangle 31">
            <a:extLst>
              <a:ext uri="{FF2B5EF4-FFF2-40B4-BE49-F238E27FC236}">
                <a16:creationId xmlns:a16="http://schemas.microsoft.com/office/drawing/2014/main" id="{407CB803-16B4-75D6-DB45-C9D12278C71F}"/>
              </a:ext>
            </a:extLst>
          </p:cNvPr>
          <p:cNvSpPr/>
          <p:nvPr/>
        </p:nvSpPr>
        <p:spPr>
          <a:xfrm>
            <a:off x="7386065" y="8669001"/>
            <a:ext cx="1797264" cy="420569"/>
          </a:xfrm>
          <a:prstGeom prst="roundRect">
            <a:avLst/>
          </a:prstGeom>
          <a:noFill/>
          <a:ln w="9525">
            <a:solidFill>
              <a:srgbClr val="4DCC8D"/>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3 articles</a:t>
            </a:r>
          </a:p>
          <a:p>
            <a:r>
              <a:rPr lang="en-DE" sz="900" dirty="0">
                <a:solidFill>
                  <a:schemeClr val="tx1"/>
                </a:solidFill>
              </a:rPr>
              <a:t>Utterance suggestions</a:t>
            </a:r>
            <a:endParaRPr lang="en-DE" sz="800" dirty="0">
              <a:solidFill>
                <a:schemeClr val="tx1"/>
              </a:solidFill>
            </a:endParaRPr>
          </a:p>
        </p:txBody>
      </p:sp>
      <p:sp>
        <p:nvSpPr>
          <p:cNvPr id="33" name="Rounded Rectangle 32">
            <a:extLst>
              <a:ext uri="{FF2B5EF4-FFF2-40B4-BE49-F238E27FC236}">
                <a16:creationId xmlns:a16="http://schemas.microsoft.com/office/drawing/2014/main" id="{3EE61B7A-6642-E8FD-3EFC-6693023BF029}"/>
              </a:ext>
            </a:extLst>
          </p:cNvPr>
          <p:cNvSpPr/>
          <p:nvPr/>
        </p:nvSpPr>
        <p:spPr>
          <a:xfrm>
            <a:off x="7386065" y="9170659"/>
            <a:ext cx="1797264" cy="420569"/>
          </a:xfrm>
          <a:prstGeom prst="roundRect">
            <a:avLst/>
          </a:prstGeom>
          <a:noFill/>
          <a:ln w="9525">
            <a:solidFill>
              <a:srgbClr val="4DCC8D"/>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3 articles</a:t>
            </a:r>
          </a:p>
          <a:p>
            <a:r>
              <a:rPr lang="en-DE" sz="900" dirty="0">
                <a:solidFill>
                  <a:schemeClr val="tx1"/>
                </a:solidFill>
              </a:rPr>
              <a:t>Treatment fidelity feedback</a:t>
            </a:r>
            <a:endParaRPr lang="en-DE" sz="800" dirty="0">
              <a:solidFill>
                <a:schemeClr val="tx1"/>
              </a:solidFill>
            </a:endParaRPr>
          </a:p>
        </p:txBody>
      </p:sp>
      <p:sp>
        <p:nvSpPr>
          <p:cNvPr id="34" name="Rounded Rectangle 33">
            <a:extLst>
              <a:ext uri="{FF2B5EF4-FFF2-40B4-BE49-F238E27FC236}">
                <a16:creationId xmlns:a16="http://schemas.microsoft.com/office/drawing/2014/main" id="{2BE49820-A129-EF7A-295B-EA391B8BF387}"/>
              </a:ext>
            </a:extLst>
          </p:cNvPr>
          <p:cNvSpPr/>
          <p:nvPr/>
        </p:nvSpPr>
        <p:spPr>
          <a:xfrm>
            <a:off x="7386065" y="9672317"/>
            <a:ext cx="1797264" cy="420569"/>
          </a:xfrm>
          <a:prstGeom prst="roundRect">
            <a:avLst/>
          </a:prstGeom>
          <a:noFill/>
          <a:ln w="9525">
            <a:solidFill>
              <a:srgbClr val="4DCC8D"/>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3 articles</a:t>
            </a:r>
          </a:p>
          <a:p>
            <a:r>
              <a:rPr lang="en-DE" sz="900" dirty="0">
                <a:solidFill>
                  <a:schemeClr val="tx1"/>
                </a:solidFill>
              </a:rPr>
              <a:t>Other</a:t>
            </a:r>
            <a:endParaRPr lang="en-DE" sz="800" dirty="0">
              <a:solidFill>
                <a:schemeClr val="tx1"/>
              </a:solidFill>
            </a:endParaRPr>
          </a:p>
        </p:txBody>
      </p:sp>
      <p:sp>
        <p:nvSpPr>
          <p:cNvPr id="35" name="Oval 34">
            <a:extLst>
              <a:ext uri="{FF2B5EF4-FFF2-40B4-BE49-F238E27FC236}">
                <a16:creationId xmlns:a16="http://schemas.microsoft.com/office/drawing/2014/main" id="{0D923280-97B1-AD54-799D-3FB14B1C27EA}"/>
              </a:ext>
            </a:extLst>
          </p:cNvPr>
          <p:cNvSpPr/>
          <p:nvPr/>
        </p:nvSpPr>
        <p:spPr>
          <a:xfrm>
            <a:off x="5107122" y="10453006"/>
            <a:ext cx="56065" cy="56065"/>
          </a:xfrm>
          <a:prstGeom prst="ellipse">
            <a:avLst/>
          </a:prstGeom>
          <a:solidFill>
            <a:srgbClr val="FF9E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 name="Oval 35">
            <a:extLst>
              <a:ext uri="{FF2B5EF4-FFF2-40B4-BE49-F238E27FC236}">
                <a16:creationId xmlns:a16="http://schemas.microsoft.com/office/drawing/2014/main" id="{4173081C-D61F-C93C-BFDA-CA5BDEA81CB1}"/>
              </a:ext>
            </a:extLst>
          </p:cNvPr>
          <p:cNvSpPr/>
          <p:nvPr/>
        </p:nvSpPr>
        <p:spPr>
          <a:xfrm>
            <a:off x="4624032" y="6778970"/>
            <a:ext cx="56065" cy="56065"/>
          </a:xfrm>
          <a:prstGeom prst="ellipse">
            <a:avLst/>
          </a:prstGeom>
          <a:solidFill>
            <a:srgbClr val="4DC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7" name="Oval 36">
            <a:extLst>
              <a:ext uri="{FF2B5EF4-FFF2-40B4-BE49-F238E27FC236}">
                <a16:creationId xmlns:a16="http://schemas.microsoft.com/office/drawing/2014/main" id="{38635392-97DC-D568-1880-36D47491EBCF}"/>
              </a:ext>
            </a:extLst>
          </p:cNvPr>
          <p:cNvSpPr/>
          <p:nvPr/>
        </p:nvSpPr>
        <p:spPr>
          <a:xfrm>
            <a:off x="4465748" y="7137093"/>
            <a:ext cx="56065" cy="56065"/>
          </a:xfrm>
          <a:prstGeom prst="ellipse">
            <a:avLst/>
          </a:prstGeom>
          <a:solidFill>
            <a:srgbClr val="FF9E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8" name="Oval 37">
            <a:extLst>
              <a:ext uri="{FF2B5EF4-FFF2-40B4-BE49-F238E27FC236}">
                <a16:creationId xmlns:a16="http://schemas.microsoft.com/office/drawing/2014/main" id="{68EFB8DE-A876-4150-E8F5-50AC20F87E1D}"/>
              </a:ext>
            </a:extLst>
          </p:cNvPr>
          <p:cNvSpPr/>
          <p:nvPr/>
        </p:nvSpPr>
        <p:spPr>
          <a:xfrm>
            <a:off x="4624032" y="6359428"/>
            <a:ext cx="56065" cy="56065"/>
          </a:xfrm>
          <a:prstGeom prst="ellipse">
            <a:avLst/>
          </a:prstGeom>
          <a:solidFill>
            <a:srgbClr val="028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42" name="Straight Connector 41">
            <a:extLst>
              <a:ext uri="{FF2B5EF4-FFF2-40B4-BE49-F238E27FC236}">
                <a16:creationId xmlns:a16="http://schemas.microsoft.com/office/drawing/2014/main" id="{9BE32697-527F-F83E-A21C-0E5AC5E68088}"/>
              </a:ext>
            </a:extLst>
          </p:cNvPr>
          <p:cNvCxnSpPr>
            <a:cxnSpLocks/>
            <a:stCxn id="35" idx="2"/>
          </p:cNvCxnSpPr>
          <p:nvPr/>
        </p:nvCxnSpPr>
        <p:spPr>
          <a:xfrm flipH="1">
            <a:off x="4722008" y="10481039"/>
            <a:ext cx="385114" cy="0"/>
          </a:xfrm>
          <a:prstGeom prst="line">
            <a:avLst/>
          </a:prstGeom>
          <a:ln w="25400">
            <a:solidFill>
              <a:srgbClr val="FF9E3A"/>
            </a:solidFill>
          </a:ln>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7FE0B606-29AB-0E56-A8A5-A6D199E5DB45}"/>
              </a:ext>
            </a:extLst>
          </p:cNvPr>
          <p:cNvCxnSpPr>
            <a:cxnSpLocks/>
          </p:cNvCxnSpPr>
          <p:nvPr/>
        </p:nvCxnSpPr>
        <p:spPr>
          <a:xfrm flipV="1">
            <a:off x="4722008" y="7402525"/>
            <a:ext cx="4380" cy="3078513"/>
          </a:xfrm>
          <a:prstGeom prst="line">
            <a:avLst/>
          </a:prstGeom>
          <a:ln w="25400">
            <a:solidFill>
              <a:srgbClr val="FF9E3A"/>
            </a:solidFill>
          </a:ln>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8D4472C7-CB50-838E-2E7E-BA303587FDA6}"/>
              </a:ext>
            </a:extLst>
          </p:cNvPr>
          <p:cNvCxnSpPr>
            <a:cxnSpLocks/>
          </p:cNvCxnSpPr>
          <p:nvPr/>
        </p:nvCxnSpPr>
        <p:spPr>
          <a:xfrm flipV="1">
            <a:off x="4928581" y="7078656"/>
            <a:ext cx="0" cy="1709274"/>
          </a:xfrm>
          <a:prstGeom prst="line">
            <a:avLst/>
          </a:prstGeom>
          <a:ln w="25400">
            <a:solidFill>
              <a:srgbClr val="4DCC8E"/>
            </a:solidFill>
          </a:ln>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84ADE52E-BD80-948D-6F13-B96CDC0DAABA}"/>
              </a:ext>
            </a:extLst>
          </p:cNvPr>
          <p:cNvCxnSpPr>
            <a:cxnSpLocks/>
            <a:endCxn id="22" idx="2"/>
          </p:cNvCxnSpPr>
          <p:nvPr/>
        </p:nvCxnSpPr>
        <p:spPr>
          <a:xfrm>
            <a:off x="4928581" y="8787931"/>
            <a:ext cx="178541" cy="0"/>
          </a:xfrm>
          <a:prstGeom prst="line">
            <a:avLst/>
          </a:prstGeom>
          <a:ln w="25400">
            <a:solidFill>
              <a:srgbClr val="4DCC8E"/>
            </a:solidFill>
          </a:ln>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59A0D676-9749-8EB3-3113-9294FCC596FD}"/>
              </a:ext>
            </a:extLst>
          </p:cNvPr>
          <p:cNvCxnSpPr>
            <a:cxnSpLocks/>
            <a:endCxn id="36" idx="5"/>
          </p:cNvCxnSpPr>
          <p:nvPr/>
        </p:nvCxnSpPr>
        <p:spPr>
          <a:xfrm flipH="1" flipV="1">
            <a:off x="4671886" y="6826824"/>
            <a:ext cx="253033" cy="251832"/>
          </a:xfrm>
          <a:prstGeom prst="line">
            <a:avLst/>
          </a:prstGeom>
          <a:ln w="25400">
            <a:solidFill>
              <a:srgbClr val="4DCC8E"/>
            </a:solidFill>
          </a:ln>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3100F0E7-780B-998B-EDAC-CED3E157E8CA}"/>
              </a:ext>
            </a:extLst>
          </p:cNvPr>
          <p:cNvCxnSpPr>
            <a:cxnSpLocks/>
            <a:endCxn id="37" idx="5"/>
          </p:cNvCxnSpPr>
          <p:nvPr/>
        </p:nvCxnSpPr>
        <p:spPr>
          <a:xfrm flipH="1" flipV="1">
            <a:off x="4513602" y="7184947"/>
            <a:ext cx="212786" cy="217578"/>
          </a:xfrm>
          <a:prstGeom prst="line">
            <a:avLst/>
          </a:prstGeom>
          <a:ln w="25400">
            <a:solidFill>
              <a:srgbClr val="FF9E3A"/>
            </a:solidFill>
          </a:ln>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53F79084-78F0-CA80-259F-5D73B00E3172}"/>
              </a:ext>
            </a:extLst>
          </p:cNvPr>
          <p:cNvCxnSpPr>
            <a:cxnSpLocks/>
            <a:endCxn id="38" idx="7"/>
          </p:cNvCxnSpPr>
          <p:nvPr/>
        </p:nvCxnSpPr>
        <p:spPr>
          <a:xfrm flipH="1">
            <a:off x="4671886" y="6124723"/>
            <a:ext cx="242679" cy="242916"/>
          </a:xfrm>
          <a:prstGeom prst="line">
            <a:avLst/>
          </a:prstGeom>
          <a:ln w="25400">
            <a:solidFill>
              <a:srgbClr val="028DFF"/>
            </a:solidFill>
          </a:ln>
        </p:spPr>
        <p:style>
          <a:lnRef idx="2">
            <a:schemeClr val="dk1"/>
          </a:lnRef>
          <a:fillRef idx="0">
            <a:schemeClr val="dk1"/>
          </a:fillRef>
          <a:effectRef idx="1">
            <a:schemeClr val="dk1"/>
          </a:effectRef>
          <a:fontRef idx="minor">
            <a:schemeClr val="tx1"/>
          </a:fontRef>
        </p:style>
      </p:cxnSp>
      <p:cxnSp>
        <p:nvCxnSpPr>
          <p:cNvPr id="73" name="Straight Connector 72">
            <a:extLst>
              <a:ext uri="{FF2B5EF4-FFF2-40B4-BE49-F238E27FC236}">
                <a16:creationId xmlns:a16="http://schemas.microsoft.com/office/drawing/2014/main" id="{2B33F9F8-628C-8784-02D0-A3710B51F549}"/>
              </a:ext>
            </a:extLst>
          </p:cNvPr>
          <p:cNvCxnSpPr>
            <a:cxnSpLocks/>
            <a:stCxn id="23" idx="2"/>
          </p:cNvCxnSpPr>
          <p:nvPr/>
        </p:nvCxnSpPr>
        <p:spPr>
          <a:xfrm flipH="1">
            <a:off x="4914565" y="5577800"/>
            <a:ext cx="192557" cy="0"/>
          </a:xfrm>
          <a:prstGeom prst="line">
            <a:avLst/>
          </a:prstGeom>
          <a:ln w="25400">
            <a:solidFill>
              <a:srgbClr val="028DFF"/>
            </a:solidFill>
          </a:ln>
        </p:spPr>
        <p:style>
          <a:lnRef idx="2">
            <a:schemeClr val="dk1"/>
          </a:lnRef>
          <a:fillRef idx="0">
            <a:schemeClr val="dk1"/>
          </a:fillRef>
          <a:effectRef idx="1">
            <a:schemeClr val="dk1"/>
          </a:effectRef>
          <a:fontRef idx="minor">
            <a:schemeClr val="tx1"/>
          </a:fontRef>
        </p:style>
      </p:cxnSp>
      <p:cxnSp>
        <p:nvCxnSpPr>
          <p:cNvPr id="76" name="Straight Connector 75">
            <a:extLst>
              <a:ext uri="{FF2B5EF4-FFF2-40B4-BE49-F238E27FC236}">
                <a16:creationId xmlns:a16="http://schemas.microsoft.com/office/drawing/2014/main" id="{670AB103-4FE1-8311-474B-C6D1ACDED265}"/>
              </a:ext>
            </a:extLst>
          </p:cNvPr>
          <p:cNvCxnSpPr>
            <a:cxnSpLocks/>
          </p:cNvCxnSpPr>
          <p:nvPr/>
        </p:nvCxnSpPr>
        <p:spPr>
          <a:xfrm>
            <a:off x="4914565" y="5577799"/>
            <a:ext cx="0" cy="546924"/>
          </a:xfrm>
          <a:prstGeom prst="line">
            <a:avLst/>
          </a:prstGeom>
          <a:ln w="25400">
            <a:solidFill>
              <a:srgbClr val="028DFF"/>
            </a:solidFill>
          </a:ln>
        </p:spPr>
        <p:style>
          <a:lnRef idx="2">
            <a:schemeClr val="dk1"/>
          </a:lnRef>
          <a:fillRef idx="0">
            <a:schemeClr val="dk1"/>
          </a:fillRef>
          <a:effectRef idx="1">
            <a:schemeClr val="dk1"/>
          </a:effectRef>
          <a:fontRef idx="minor">
            <a:schemeClr val="tx1"/>
          </a:fontRef>
        </p:style>
      </p:cxnSp>
      <p:sp>
        <p:nvSpPr>
          <p:cNvPr id="85" name="TextBox 84">
            <a:extLst>
              <a:ext uri="{FF2B5EF4-FFF2-40B4-BE49-F238E27FC236}">
                <a16:creationId xmlns:a16="http://schemas.microsoft.com/office/drawing/2014/main" id="{B29759EF-4AA3-F229-3039-9228E79467F6}"/>
              </a:ext>
            </a:extLst>
          </p:cNvPr>
          <p:cNvSpPr txBox="1"/>
          <p:nvPr/>
        </p:nvSpPr>
        <p:spPr>
          <a:xfrm>
            <a:off x="3211904" y="6246181"/>
            <a:ext cx="974375" cy="646331"/>
          </a:xfrm>
          <a:prstGeom prst="rect">
            <a:avLst/>
          </a:prstGeom>
          <a:noFill/>
        </p:spPr>
        <p:txBody>
          <a:bodyPr wrap="square" rtlCol="0">
            <a:spAutoFit/>
          </a:bodyPr>
          <a:lstStyle/>
          <a:p>
            <a:pPr algn="ctr"/>
            <a:r>
              <a:rPr lang="en-DE" sz="1200" b="1" dirty="0"/>
              <a:t>122 included articles</a:t>
            </a:r>
          </a:p>
        </p:txBody>
      </p:sp>
      <p:sp>
        <p:nvSpPr>
          <p:cNvPr id="87" name="TextBox 86">
            <a:extLst>
              <a:ext uri="{FF2B5EF4-FFF2-40B4-BE49-F238E27FC236}">
                <a16:creationId xmlns:a16="http://schemas.microsoft.com/office/drawing/2014/main" id="{D59DAC37-4577-505D-D676-3D42F89351B5}"/>
              </a:ext>
            </a:extLst>
          </p:cNvPr>
          <p:cNvSpPr txBox="1"/>
          <p:nvPr/>
        </p:nvSpPr>
        <p:spPr>
          <a:xfrm>
            <a:off x="2577664" y="11315519"/>
            <a:ext cx="482600" cy="369332"/>
          </a:xfrm>
          <a:prstGeom prst="rect">
            <a:avLst/>
          </a:prstGeom>
          <a:noFill/>
        </p:spPr>
        <p:txBody>
          <a:bodyPr wrap="square" rtlCol="0">
            <a:spAutoFit/>
          </a:bodyPr>
          <a:lstStyle/>
          <a:p>
            <a:r>
              <a:rPr lang="en-DE" b="1" dirty="0"/>
              <a:t>B</a:t>
            </a:r>
          </a:p>
        </p:txBody>
      </p:sp>
      <p:sp>
        <p:nvSpPr>
          <p:cNvPr id="88" name="TextBox 87">
            <a:extLst>
              <a:ext uri="{FF2B5EF4-FFF2-40B4-BE49-F238E27FC236}">
                <a16:creationId xmlns:a16="http://schemas.microsoft.com/office/drawing/2014/main" id="{2E8B7961-B620-A620-D8DD-1D9946B0FBB8}"/>
              </a:ext>
            </a:extLst>
          </p:cNvPr>
          <p:cNvSpPr txBox="1"/>
          <p:nvPr/>
        </p:nvSpPr>
        <p:spPr>
          <a:xfrm>
            <a:off x="2577664" y="5296518"/>
            <a:ext cx="482600" cy="369332"/>
          </a:xfrm>
          <a:prstGeom prst="rect">
            <a:avLst/>
          </a:prstGeom>
          <a:noFill/>
        </p:spPr>
        <p:txBody>
          <a:bodyPr wrap="square" rtlCol="0">
            <a:spAutoFit/>
          </a:bodyPr>
          <a:lstStyle/>
          <a:p>
            <a:r>
              <a:rPr lang="en-DE" b="1" dirty="0"/>
              <a:t>A</a:t>
            </a:r>
          </a:p>
        </p:txBody>
      </p:sp>
      <p:sp>
        <p:nvSpPr>
          <p:cNvPr id="89" name="TextBox 88">
            <a:extLst>
              <a:ext uri="{FF2B5EF4-FFF2-40B4-BE49-F238E27FC236}">
                <a16:creationId xmlns:a16="http://schemas.microsoft.com/office/drawing/2014/main" id="{C1356E87-910B-D6FE-3917-1F859DE5E4E3}"/>
              </a:ext>
            </a:extLst>
          </p:cNvPr>
          <p:cNvSpPr txBox="1"/>
          <p:nvPr/>
        </p:nvSpPr>
        <p:spPr>
          <a:xfrm>
            <a:off x="12533192" y="12878556"/>
            <a:ext cx="3541803" cy="1200329"/>
          </a:xfrm>
          <a:prstGeom prst="rect">
            <a:avLst/>
          </a:prstGeom>
          <a:noFill/>
        </p:spPr>
        <p:txBody>
          <a:bodyPr wrap="none" rtlCol="0">
            <a:spAutoFit/>
          </a:bodyPr>
          <a:lstStyle/>
          <a:p>
            <a:pPr marL="285750" indent="-285750">
              <a:buFontTx/>
              <a:buChar char="-"/>
            </a:pPr>
            <a:r>
              <a:rPr lang="en-GB" dirty="0"/>
              <a:t>I</a:t>
            </a:r>
            <a:r>
              <a:rPr lang="en-DE" dirty="0"/>
              <a:t>ncrease font size</a:t>
            </a:r>
          </a:p>
          <a:p>
            <a:pPr marL="285750" indent="-285750">
              <a:buFontTx/>
              <a:buChar char="-"/>
            </a:pPr>
            <a:r>
              <a:rPr lang="en-GB" dirty="0"/>
              <a:t>C</a:t>
            </a:r>
            <a:r>
              <a:rPr lang="en-DE" dirty="0"/>
              <a:t>olor scheme could be better (</a:t>
            </a:r>
          </a:p>
          <a:p>
            <a:pPr marL="285750" indent="-285750">
              <a:buFontTx/>
              <a:buChar char="-"/>
            </a:pPr>
            <a:r>
              <a:rPr lang="en-GB" dirty="0"/>
              <a:t>R</a:t>
            </a:r>
            <a:r>
              <a:rPr lang="en-DE" dirty="0"/>
              <a:t>ename outlet to venue</a:t>
            </a:r>
          </a:p>
          <a:p>
            <a:pPr marL="285750" indent="-285750">
              <a:buFontTx/>
              <a:buChar char="-"/>
            </a:pPr>
            <a:endParaRPr lang="en-DE" dirty="0"/>
          </a:p>
        </p:txBody>
      </p:sp>
      <p:pic>
        <p:nvPicPr>
          <p:cNvPr id="5" name="Graphic 4">
            <a:extLst>
              <a:ext uri="{FF2B5EF4-FFF2-40B4-BE49-F238E27FC236}">
                <a16:creationId xmlns:a16="http://schemas.microsoft.com/office/drawing/2014/main" id="{FD0D88C7-55D4-E40B-01A6-B9B95181E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0470" y="11500185"/>
            <a:ext cx="3651189" cy="2411163"/>
          </a:xfrm>
          <a:prstGeom prst="rect">
            <a:avLst/>
          </a:prstGeom>
        </p:spPr>
      </p:pic>
      <p:sp>
        <p:nvSpPr>
          <p:cNvPr id="6" name="TextBox 5">
            <a:extLst>
              <a:ext uri="{FF2B5EF4-FFF2-40B4-BE49-F238E27FC236}">
                <a16:creationId xmlns:a16="http://schemas.microsoft.com/office/drawing/2014/main" id="{A071DA70-B4F5-B022-D237-1E59F6E46939}"/>
              </a:ext>
            </a:extLst>
          </p:cNvPr>
          <p:cNvSpPr txBox="1"/>
          <p:nvPr/>
        </p:nvSpPr>
        <p:spPr>
          <a:xfrm>
            <a:off x="2605179" y="6061231"/>
            <a:ext cx="974375" cy="276999"/>
          </a:xfrm>
          <a:prstGeom prst="rect">
            <a:avLst/>
          </a:prstGeom>
          <a:noFill/>
        </p:spPr>
        <p:txBody>
          <a:bodyPr wrap="square" rtlCol="0">
            <a:spAutoFit/>
          </a:bodyPr>
          <a:lstStyle/>
          <a:p>
            <a:pPr algn="ctr"/>
            <a:r>
              <a:rPr lang="en-DE" sz="1200" dirty="0"/>
              <a:t>87 %</a:t>
            </a:r>
          </a:p>
        </p:txBody>
      </p:sp>
      <p:sp>
        <p:nvSpPr>
          <p:cNvPr id="7" name="TextBox 6">
            <a:extLst>
              <a:ext uri="{FF2B5EF4-FFF2-40B4-BE49-F238E27FC236}">
                <a16:creationId xmlns:a16="http://schemas.microsoft.com/office/drawing/2014/main" id="{E5584351-B835-5099-0CD9-1C59E35BE03A}"/>
              </a:ext>
            </a:extLst>
          </p:cNvPr>
          <p:cNvSpPr txBox="1"/>
          <p:nvPr/>
        </p:nvSpPr>
        <p:spPr>
          <a:xfrm>
            <a:off x="3920918" y="6613867"/>
            <a:ext cx="974375" cy="276999"/>
          </a:xfrm>
          <a:prstGeom prst="rect">
            <a:avLst/>
          </a:prstGeom>
          <a:noFill/>
        </p:spPr>
        <p:txBody>
          <a:bodyPr wrap="square" rtlCol="0">
            <a:spAutoFit/>
          </a:bodyPr>
          <a:lstStyle/>
          <a:p>
            <a:pPr algn="ctr"/>
            <a:r>
              <a:rPr lang="en-DE" sz="1200" dirty="0"/>
              <a:t>7 %</a:t>
            </a:r>
          </a:p>
        </p:txBody>
      </p:sp>
      <p:sp>
        <p:nvSpPr>
          <p:cNvPr id="8" name="TextBox 7">
            <a:extLst>
              <a:ext uri="{FF2B5EF4-FFF2-40B4-BE49-F238E27FC236}">
                <a16:creationId xmlns:a16="http://schemas.microsoft.com/office/drawing/2014/main" id="{667AC852-5AA8-A9F6-268C-D4FC66FEF8DC}"/>
              </a:ext>
            </a:extLst>
          </p:cNvPr>
          <p:cNvSpPr txBox="1"/>
          <p:nvPr/>
        </p:nvSpPr>
        <p:spPr>
          <a:xfrm>
            <a:off x="3807151" y="6884021"/>
            <a:ext cx="974375" cy="276999"/>
          </a:xfrm>
          <a:prstGeom prst="rect">
            <a:avLst/>
          </a:prstGeom>
          <a:noFill/>
        </p:spPr>
        <p:txBody>
          <a:bodyPr wrap="square" rtlCol="0">
            <a:spAutoFit/>
          </a:bodyPr>
          <a:lstStyle/>
          <a:p>
            <a:pPr algn="ctr"/>
            <a:r>
              <a:rPr lang="en-DE" sz="1200" dirty="0"/>
              <a:t>6 %</a:t>
            </a:r>
          </a:p>
        </p:txBody>
      </p:sp>
    </p:spTree>
    <p:extLst>
      <p:ext uri="{BB962C8B-B14F-4D97-AF65-F5344CB8AC3E}">
        <p14:creationId xmlns:p14="http://schemas.microsoft.com/office/powerpoint/2010/main" val="532691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0C3E30-6AB8-6C42-6AF1-6EE7353BECF8}"/>
            </a:ext>
          </a:extLst>
        </p:cNvPr>
        <p:cNvGrpSpPr/>
        <p:nvPr/>
      </p:nvGrpSpPr>
      <p:grpSpPr>
        <a:xfrm>
          <a:off x="0" y="0"/>
          <a:ext cx="0" cy="0"/>
          <a:chOff x="0" y="0"/>
          <a:chExt cx="0" cy="0"/>
        </a:xfrm>
      </p:grpSpPr>
      <p:sp>
        <p:nvSpPr>
          <p:cNvPr id="19" name="Rounded Rectangle 18">
            <a:extLst>
              <a:ext uri="{FF2B5EF4-FFF2-40B4-BE49-F238E27FC236}">
                <a16:creationId xmlns:a16="http://schemas.microsoft.com/office/drawing/2014/main" id="{1FB631A0-7C51-46BD-B484-F0A48D96F9CA}"/>
              </a:ext>
            </a:extLst>
          </p:cNvPr>
          <p:cNvSpPr/>
          <p:nvPr/>
        </p:nvSpPr>
        <p:spPr>
          <a:xfrm>
            <a:off x="1810735" y="4399592"/>
            <a:ext cx="4146498" cy="3084848"/>
          </a:xfrm>
          <a:prstGeom prst="roundRect">
            <a:avLst>
              <a:gd name="adj" fmla="val 3502"/>
            </a:avLst>
          </a:prstGeom>
          <a:solidFill>
            <a:srgbClr val="009E73">
              <a:alpha val="15230"/>
            </a:srgb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Ins="1980000" rtlCol="0" anchor="t"/>
          <a:lstStyle/>
          <a:p>
            <a:r>
              <a:rPr lang="en-DE" sz="1000" dirty="0">
                <a:solidFill>
                  <a:schemeClr val="tx1"/>
                </a:solidFill>
              </a:rPr>
              <a:t>126 articles (86 %)</a:t>
            </a:r>
          </a:p>
          <a:p>
            <a:r>
              <a:rPr lang="en-DE" sz="1000" b="1" dirty="0">
                <a:solidFill>
                  <a:schemeClr val="tx1"/>
                </a:solidFill>
              </a:rPr>
              <a:t>Client-facing applications</a:t>
            </a:r>
          </a:p>
          <a:p>
            <a:pPr>
              <a:spcBef>
                <a:spcPts val="200"/>
              </a:spcBef>
            </a:pPr>
            <a:r>
              <a:rPr lang="en-DE" sz="900" dirty="0">
                <a:solidFill>
                  <a:schemeClr val="tx1"/>
                </a:solidFill>
              </a:rPr>
              <a:t>Applications intended to provide users therapeutic interventions or emotional support</a:t>
            </a:r>
          </a:p>
        </p:txBody>
      </p:sp>
      <p:sp>
        <p:nvSpPr>
          <p:cNvPr id="20" name="Rounded Rectangle 19">
            <a:extLst>
              <a:ext uri="{FF2B5EF4-FFF2-40B4-BE49-F238E27FC236}">
                <a16:creationId xmlns:a16="http://schemas.microsoft.com/office/drawing/2014/main" id="{578BC61F-E9F3-46B4-48CA-BF6D6DE35DEF}"/>
              </a:ext>
            </a:extLst>
          </p:cNvPr>
          <p:cNvSpPr/>
          <p:nvPr/>
        </p:nvSpPr>
        <p:spPr>
          <a:xfrm>
            <a:off x="9199337" y="6092699"/>
            <a:ext cx="4146498" cy="888417"/>
          </a:xfrm>
          <a:prstGeom prst="roundRect">
            <a:avLst>
              <a:gd name="adj" fmla="val 14076"/>
            </a:avLst>
          </a:prstGeom>
          <a:solidFill>
            <a:srgbClr val="0071B2">
              <a:alpha val="15250"/>
            </a:srgb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1000" dirty="0">
                <a:solidFill>
                  <a:schemeClr val="tx1"/>
                </a:solidFill>
              </a:rPr>
              <a:t>10 articles (7 %)</a:t>
            </a:r>
          </a:p>
          <a:p>
            <a:r>
              <a:rPr lang="en-DE" sz="1000" b="1" dirty="0">
                <a:solidFill>
                  <a:schemeClr val="tx1"/>
                </a:solidFill>
              </a:rPr>
              <a:t>Text-based prediction</a:t>
            </a:r>
          </a:p>
          <a:p>
            <a:pPr>
              <a:spcBef>
                <a:spcPts val="200"/>
              </a:spcBef>
            </a:pPr>
            <a:r>
              <a:rPr lang="en-DE" sz="900" dirty="0">
                <a:solidFill>
                  <a:schemeClr val="tx1"/>
                </a:solidFill>
              </a:rPr>
              <a:t>Applications that predict/detect a clinical or therapeutic construct in the utterances or users and help providers, e.g. therapeutic alliance, depression severity, therapeutic fidelity</a:t>
            </a:r>
          </a:p>
        </p:txBody>
      </p:sp>
      <p:sp>
        <p:nvSpPr>
          <p:cNvPr id="21" name="Rounded Rectangle 20">
            <a:extLst>
              <a:ext uri="{FF2B5EF4-FFF2-40B4-BE49-F238E27FC236}">
                <a16:creationId xmlns:a16="http://schemas.microsoft.com/office/drawing/2014/main" id="{85CB6BA4-A3E6-DC5F-10DF-6F484632C6FE}"/>
              </a:ext>
            </a:extLst>
          </p:cNvPr>
          <p:cNvSpPr/>
          <p:nvPr/>
        </p:nvSpPr>
        <p:spPr>
          <a:xfrm>
            <a:off x="9199337" y="4399592"/>
            <a:ext cx="4146498" cy="1561908"/>
          </a:xfrm>
          <a:prstGeom prst="roundRect">
            <a:avLst>
              <a:gd name="adj" fmla="val 5433"/>
            </a:avLst>
          </a:prstGeom>
          <a:solidFill>
            <a:srgbClr val="F29B00">
              <a:alpha val="15000"/>
            </a:srgb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Ins="1980000" rtlCol="0" anchor="t"/>
          <a:lstStyle/>
          <a:p>
            <a:r>
              <a:rPr lang="en-DE" sz="1000" dirty="0">
                <a:solidFill>
                  <a:schemeClr val="tx1"/>
                </a:solidFill>
              </a:rPr>
              <a:t>9 articles (6 %)</a:t>
            </a:r>
          </a:p>
          <a:p>
            <a:r>
              <a:rPr lang="en-DE" sz="1000" b="1" dirty="0">
                <a:solidFill>
                  <a:schemeClr val="tx1"/>
                </a:solidFill>
              </a:rPr>
              <a:t>Therapist guidance applications</a:t>
            </a:r>
          </a:p>
          <a:p>
            <a:pPr>
              <a:spcBef>
                <a:spcPts val="200"/>
              </a:spcBef>
            </a:pPr>
            <a:r>
              <a:rPr lang="en-DE" sz="900" dirty="0">
                <a:solidFill>
                  <a:schemeClr val="tx1"/>
                </a:solidFill>
              </a:rPr>
              <a:t>Applications intended to improve therapist performance by monitoring therapy sessions and suggesting therapeutic responses or improvements to the therapist’s language (e.g., what to say next)</a:t>
            </a:r>
          </a:p>
        </p:txBody>
      </p:sp>
      <p:sp>
        <p:nvSpPr>
          <p:cNvPr id="22" name="Oval 21">
            <a:extLst>
              <a:ext uri="{FF2B5EF4-FFF2-40B4-BE49-F238E27FC236}">
                <a16:creationId xmlns:a16="http://schemas.microsoft.com/office/drawing/2014/main" id="{4EF3F535-69AD-141B-B411-E3059DC67B05}"/>
              </a:ext>
            </a:extLst>
          </p:cNvPr>
          <p:cNvSpPr/>
          <p:nvPr/>
        </p:nvSpPr>
        <p:spPr>
          <a:xfrm>
            <a:off x="9171304" y="4571577"/>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 name="Oval 22">
            <a:extLst>
              <a:ext uri="{FF2B5EF4-FFF2-40B4-BE49-F238E27FC236}">
                <a16:creationId xmlns:a16="http://schemas.microsoft.com/office/drawing/2014/main" id="{610A93DD-E77D-F607-A6EE-D06051DFDAEB}"/>
              </a:ext>
            </a:extLst>
          </p:cNvPr>
          <p:cNvSpPr/>
          <p:nvPr/>
        </p:nvSpPr>
        <p:spPr>
          <a:xfrm>
            <a:off x="5929201" y="4571577"/>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aphicFrame>
        <p:nvGraphicFramePr>
          <p:cNvPr id="25" name="Chart 24">
            <a:extLst>
              <a:ext uri="{FF2B5EF4-FFF2-40B4-BE49-F238E27FC236}">
                <a16:creationId xmlns:a16="http://schemas.microsoft.com/office/drawing/2014/main" id="{92760EB7-E849-22A4-EC82-90B61226E571}"/>
              </a:ext>
            </a:extLst>
          </p:cNvPr>
          <p:cNvGraphicFramePr>
            <a:graphicFrameLocks/>
          </p:cNvGraphicFramePr>
          <p:nvPr>
            <p:extLst>
              <p:ext uri="{D42A27DB-BD31-4B8C-83A1-F6EECF244321}">
                <p14:modId xmlns:p14="http://schemas.microsoft.com/office/powerpoint/2010/main" val="3341635937"/>
              </p:ext>
            </p:extLst>
          </p:nvPr>
        </p:nvGraphicFramePr>
        <p:xfrm>
          <a:off x="6442840" y="4677384"/>
          <a:ext cx="2242857" cy="2451454"/>
        </p:xfrm>
        <a:graphic>
          <a:graphicData uri="http://schemas.openxmlformats.org/drawingml/2006/chart">
            <c:chart xmlns:c="http://schemas.openxmlformats.org/drawingml/2006/chart" xmlns:r="http://schemas.openxmlformats.org/officeDocument/2006/relationships" r:id="rId2"/>
          </a:graphicData>
        </a:graphic>
      </p:graphicFrame>
      <p:sp>
        <p:nvSpPr>
          <p:cNvPr id="26" name="Rounded Rectangle 25">
            <a:extLst>
              <a:ext uri="{FF2B5EF4-FFF2-40B4-BE49-F238E27FC236}">
                <a16:creationId xmlns:a16="http://schemas.microsoft.com/office/drawing/2014/main" id="{399B9D49-58DC-4B51-E148-3010ECBCF700}"/>
              </a:ext>
            </a:extLst>
          </p:cNvPr>
          <p:cNvSpPr/>
          <p:nvPr/>
        </p:nvSpPr>
        <p:spPr>
          <a:xfrm>
            <a:off x="4061645" y="4483293"/>
            <a:ext cx="1797264" cy="420569"/>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96 articles (77 %)</a:t>
            </a:r>
          </a:p>
          <a:p>
            <a:r>
              <a:rPr lang="en-DE" sz="900" dirty="0">
                <a:solidFill>
                  <a:schemeClr val="tx1"/>
                </a:solidFill>
              </a:rPr>
              <a:t>Multi-turn supportive chatbots</a:t>
            </a:r>
            <a:endParaRPr lang="en-DE" sz="800" dirty="0">
              <a:solidFill>
                <a:schemeClr val="tx1"/>
              </a:solidFill>
            </a:endParaRPr>
          </a:p>
        </p:txBody>
      </p:sp>
      <p:sp>
        <p:nvSpPr>
          <p:cNvPr id="27" name="Rounded Rectangle 26">
            <a:extLst>
              <a:ext uri="{FF2B5EF4-FFF2-40B4-BE49-F238E27FC236}">
                <a16:creationId xmlns:a16="http://schemas.microsoft.com/office/drawing/2014/main" id="{3ED78F1F-643B-43BB-524E-3C342F676500}"/>
              </a:ext>
            </a:extLst>
          </p:cNvPr>
          <p:cNvSpPr/>
          <p:nvPr/>
        </p:nvSpPr>
        <p:spPr>
          <a:xfrm>
            <a:off x="4061645" y="4957563"/>
            <a:ext cx="1797264" cy="539790"/>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16 articles (13 %)</a:t>
            </a:r>
          </a:p>
          <a:p>
            <a:r>
              <a:rPr lang="en-DE" sz="900" dirty="0">
                <a:solidFill>
                  <a:schemeClr val="tx1"/>
                </a:solidFill>
              </a:rPr>
              <a:t>Single-turn question answering chatbots</a:t>
            </a:r>
            <a:endParaRPr lang="en-DE" sz="800" dirty="0">
              <a:solidFill>
                <a:schemeClr val="tx1"/>
              </a:solidFill>
            </a:endParaRPr>
          </a:p>
        </p:txBody>
      </p:sp>
      <p:sp>
        <p:nvSpPr>
          <p:cNvPr id="28" name="Rounded Rectangle 27">
            <a:extLst>
              <a:ext uri="{FF2B5EF4-FFF2-40B4-BE49-F238E27FC236}">
                <a16:creationId xmlns:a16="http://schemas.microsoft.com/office/drawing/2014/main" id="{0D128A85-616C-7A93-ACF6-F6918F538587}"/>
              </a:ext>
            </a:extLst>
          </p:cNvPr>
          <p:cNvSpPr/>
          <p:nvPr/>
        </p:nvSpPr>
        <p:spPr>
          <a:xfrm>
            <a:off x="4061645" y="5551054"/>
            <a:ext cx="1797264" cy="420569"/>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3 articles (2 %)</a:t>
            </a:r>
          </a:p>
          <a:p>
            <a:r>
              <a:rPr lang="en-DE" sz="900" dirty="0">
                <a:solidFill>
                  <a:schemeClr val="tx1"/>
                </a:solidFill>
              </a:rPr>
              <a:t>Spoken dialogue systems</a:t>
            </a:r>
            <a:endParaRPr lang="en-DE" sz="800" dirty="0">
              <a:solidFill>
                <a:schemeClr val="tx1"/>
              </a:solidFill>
            </a:endParaRPr>
          </a:p>
        </p:txBody>
      </p:sp>
      <p:sp>
        <p:nvSpPr>
          <p:cNvPr id="29" name="Rounded Rectangle 28">
            <a:extLst>
              <a:ext uri="{FF2B5EF4-FFF2-40B4-BE49-F238E27FC236}">
                <a16:creationId xmlns:a16="http://schemas.microsoft.com/office/drawing/2014/main" id="{2C3F9CEC-9164-ADE5-B761-9BE52FDE230E}"/>
              </a:ext>
            </a:extLst>
          </p:cNvPr>
          <p:cNvSpPr/>
          <p:nvPr/>
        </p:nvSpPr>
        <p:spPr>
          <a:xfrm>
            <a:off x="4061645" y="6025324"/>
            <a:ext cx="1797264" cy="420569"/>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2 articles (2 %)</a:t>
            </a:r>
          </a:p>
          <a:p>
            <a:r>
              <a:rPr lang="en-DE" sz="900" dirty="0">
                <a:solidFill>
                  <a:schemeClr val="tx1"/>
                </a:solidFill>
              </a:rPr>
              <a:t>Multi-modal dialogue systems</a:t>
            </a:r>
            <a:endParaRPr lang="en-DE" sz="800" dirty="0">
              <a:solidFill>
                <a:schemeClr val="tx1"/>
              </a:solidFill>
            </a:endParaRPr>
          </a:p>
        </p:txBody>
      </p:sp>
      <p:sp>
        <p:nvSpPr>
          <p:cNvPr id="30" name="Rounded Rectangle 29">
            <a:extLst>
              <a:ext uri="{FF2B5EF4-FFF2-40B4-BE49-F238E27FC236}">
                <a16:creationId xmlns:a16="http://schemas.microsoft.com/office/drawing/2014/main" id="{54B2571F-CEFB-0AD1-658A-7D1823E697B1}"/>
              </a:ext>
            </a:extLst>
          </p:cNvPr>
          <p:cNvSpPr/>
          <p:nvPr/>
        </p:nvSpPr>
        <p:spPr>
          <a:xfrm>
            <a:off x="4061645" y="6499594"/>
            <a:ext cx="1797264" cy="420569"/>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2 articles (2 %)</a:t>
            </a:r>
          </a:p>
          <a:p>
            <a:r>
              <a:rPr lang="en-DE" sz="900" dirty="0">
                <a:solidFill>
                  <a:schemeClr val="tx1"/>
                </a:solidFill>
              </a:rPr>
              <a:t>Emotional reflection generation</a:t>
            </a:r>
            <a:endParaRPr lang="en-DE" sz="800" dirty="0">
              <a:solidFill>
                <a:schemeClr val="tx1"/>
              </a:solidFill>
            </a:endParaRPr>
          </a:p>
        </p:txBody>
      </p:sp>
      <p:sp>
        <p:nvSpPr>
          <p:cNvPr id="31" name="Rounded Rectangle 30">
            <a:extLst>
              <a:ext uri="{FF2B5EF4-FFF2-40B4-BE49-F238E27FC236}">
                <a16:creationId xmlns:a16="http://schemas.microsoft.com/office/drawing/2014/main" id="{F2F5A1FB-1743-D2F8-2336-B93BF6A7F61F}"/>
              </a:ext>
            </a:extLst>
          </p:cNvPr>
          <p:cNvSpPr/>
          <p:nvPr/>
        </p:nvSpPr>
        <p:spPr>
          <a:xfrm>
            <a:off x="4061645" y="6973864"/>
            <a:ext cx="1797264" cy="420569"/>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2 articles (2 %)</a:t>
            </a:r>
          </a:p>
          <a:p>
            <a:r>
              <a:rPr lang="en-DE" sz="900" dirty="0">
                <a:solidFill>
                  <a:schemeClr val="tx1"/>
                </a:solidFill>
              </a:rPr>
              <a:t>Reframed thought generation</a:t>
            </a:r>
            <a:endParaRPr lang="en-DE" sz="800" dirty="0">
              <a:solidFill>
                <a:schemeClr val="tx1"/>
              </a:solidFill>
            </a:endParaRPr>
          </a:p>
        </p:txBody>
      </p:sp>
      <p:sp>
        <p:nvSpPr>
          <p:cNvPr id="32" name="Rounded Rectangle 31">
            <a:extLst>
              <a:ext uri="{FF2B5EF4-FFF2-40B4-BE49-F238E27FC236}">
                <a16:creationId xmlns:a16="http://schemas.microsoft.com/office/drawing/2014/main" id="{A9C54F74-AD43-5A10-F34A-F32AA3796D6B}"/>
              </a:ext>
            </a:extLst>
          </p:cNvPr>
          <p:cNvSpPr/>
          <p:nvPr/>
        </p:nvSpPr>
        <p:spPr>
          <a:xfrm>
            <a:off x="11450247" y="4480680"/>
            <a:ext cx="1797264" cy="420569"/>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3 articles</a:t>
            </a:r>
          </a:p>
          <a:p>
            <a:r>
              <a:rPr lang="en-DE" sz="900" dirty="0">
                <a:solidFill>
                  <a:schemeClr val="tx1"/>
                </a:solidFill>
              </a:rPr>
              <a:t>Utterance suggestions</a:t>
            </a:r>
            <a:endParaRPr lang="en-DE" sz="800" dirty="0">
              <a:solidFill>
                <a:schemeClr val="tx1"/>
              </a:solidFill>
            </a:endParaRPr>
          </a:p>
        </p:txBody>
      </p:sp>
      <p:sp>
        <p:nvSpPr>
          <p:cNvPr id="33" name="Rounded Rectangle 32">
            <a:extLst>
              <a:ext uri="{FF2B5EF4-FFF2-40B4-BE49-F238E27FC236}">
                <a16:creationId xmlns:a16="http://schemas.microsoft.com/office/drawing/2014/main" id="{5BC88A54-2D3C-467E-9341-0856C081B215}"/>
              </a:ext>
            </a:extLst>
          </p:cNvPr>
          <p:cNvSpPr/>
          <p:nvPr/>
        </p:nvSpPr>
        <p:spPr>
          <a:xfrm>
            <a:off x="11450247" y="4982338"/>
            <a:ext cx="1797264" cy="420569"/>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3 articles</a:t>
            </a:r>
          </a:p>
          <a:p>
            <a:r>
              <a:rPr lang="en-DE" sz="900" dirty="0">
                <a:solidFill>
                  <a:schemeClr val="tx1"/>
                </a:solidFill>
              </a:rPr>
              <a:t>Treatment fidelity feedback</a:t>
            </a:r>
            <a:endParaRPr lang="en-DE" sz="800" dirty="0">
              <a:solidFill>
                <a:schemeClr val="tx1"/>
              </a:solidFill>
            </a:endParaRPr>
          </a:p>
        </p:txBody>
      </p:sp>
      <p:sp>
        <p:nvSpPr>
          <p:cNvPr id="34" name="Rounded Rectangle 33">
            <a:extLst>
              <a:ext uri="{FF2B5EF4-FFF2-40B4-BE49-F238E27FC236}">
                <a16:creationId xmlns:a16="http://schemas.microsoft.com/office/drawing/2014/main" id="{8F8A92F5-7CC9-59F7-A5E2-E270AEB2958E}"/>
              </a:ext>
            </a:extLst>
          </p:cNvPr>
          <p:cNvSpPr/>
          <p:nvPr/>
        </p:nvSpPr>
        <p:spPr>
          <a:xfrm>
            <a:off x="11450247" y="5483996"/>
            <a:ext cx="1797264" cy="420569"/>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DE" sz="900" dirty="0">
                <a:solidFill>
                  <a:schemeClr val="tx1"/>
                </a:solidFill>
              </a:rPr>
              <a:t>3 articles</a:t>
            </a:r>
          </a:p>
          <a:p>
            <a:r>
              <a:rPr lang="en-DE" sz="900" dirty="0">
                <a:solidFill>
                  <a:schemeClr val="tx1"/>
                </a:solidFill>
              </a:rPr>
              <a:t>Other</a:t>
            </a:r>
            <a:endParaRPr lang="en-DE" sz="800" dirty="0">
              <a:solidFill>
                <a:schemeClr val="tx1"/>
              </a:solidFill>
            </a:endParaRPr>
          </a:p>
        </p:txBody>
      </p:sp>
      <p:sp>
        <p:nvSpPr>
          <p:cNvPr id="35" name="Oval 34">
            <a:extLst>
              <a:ext uri="{FF2B5EF4-FFF2-40B4-BE49-F238E27FC236}">
                <a16:creationId xmlns:a16="http://schemas.microsoft.com/office/drawing/2014/main" id="{F345E9A8-3B82-7583-A90E-240D3F75E93E}"/>
              </a:ext>
            </a:extLst>
          </p:cNvPr>
          <p:cNvSpPr/>
          <p:nvPr/>
        </p:nvSpPr>
        <p:spPr>
          <a:xfrm>
            <a:off x="9171304" y="6264685"/>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 name="Oval 35">
            <a:extLst>
              <a:ext uri="{FF2B5EF4-FFF2-40B4-BE49-F238E27FC236}">
                <a16:creationId xmlns:a16="http://schemas.microsoft.com/office/drawing/2014/main" id="{1CE15768-4136-8F1B-998A-5F190D03012C}"/>
              </a:ext>
            </a:extLst>
          </p:cNvPr>
          <p:cNvSpPr/>
          <p:nvPr/>
        </p:nvSpPr>
        <p:spPr>
          <a:xfrm>
            <a:off x="8341429" y="5312311"/>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7" name="Oval 36">
            <a:extLst>
              <a:ext uri="{FF2B5EF4-FFF2-40B4-BE49-F238E27FC236}">
                <a16:creationId xmlns:a16="http://schemas.microsoft.com/office/drawing/2014/main" id="{CA856262-B481-80FF-29D5-EE32084011B0}"/>
              </a:ext>
            </a:extLst>
          </p:cNvPr>
          <p:cNvSpPr/>
          <p:nvPr/>
        </p:nvSpPr>
        <p:spPr>
          <a:xfrm>
            <a:off x="8495013" y="5690420"/>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8" name="Oval 37">
            <a:extLst>
              <a:ext uri="{FF2B5EF4-FFF2-40B4-BE49-F238E27FC236}">
                <a16:creationId xmlns:a16="http://schemas.microsoft.com/office/drawing/2014/main" id="{CADB8A8E-DE79-11FE-D878-72067A76CF51}"/>
              </a:ext>
            </a:extLst>
          </p:cNvPr>
          <p:cNvSpPr/>
          <p:nvPr/>
        </p:nvSpPr>
        <p:spPr>
          <a:xfrm>
            <a:off x="6869375" y="5151546"/>
            <a:ext cx="56065" cy="560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42" name="Straight Connector 41">
            <a:extLst>
              <a:ext uri="{FF2B5EF4-FFF2-40B4-BE49-F238E27FC236}">
                <a16:creationId xmlns:a16="http://schemas.microsoft.com/office/drawing/2014/main" id="{94401004-499A-2443-486F-7BD16C96BD34}"/>
              </a:ext>
            </a:extLst>
          </p:cNvPr>
          <p:cNvCxnSpPr>
            <a:cxnSpLocks/>
            <a:stCxn id="35" idx="2"/>
          </p:cNvCxnSpPr>
          <p:nvPr/>
        </p:nvCxnSpPr>
        <p:spPr>
          <a:xfrm flipH="1">
            <a:off x="8786190" y="6292718"/>
            <a:ext cx="385114" cy="0"/>
          </a:xfrm>
          <a:prstGeom prst="line">
            <a:avLst/>
          </a:prstGeom>
          <a:ln w="9525"/>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C86D82D0-01F5-BBD9-2710-5691E4195953}"/>
              </a:ext>
            </a:extLst>
          </p:cNvPr>
          <p:cNvCxnSpPr>
            <a:cxnSpLocks/>
            <a:stCxn id="36" idx="7"/>
          </p:cNvCxnSpPr>
          <p:nvPr/>
        </p:nvCxnSpPr>
        <p:spPr>
          <a:xfrm flipV="1">
            <a:off x="8389283" y="4951855"/>
            <a:ext cx="376994" cy="368667"/>
          </a:xfrm>
          <a:prstGeom prst="line">
            <a:avLst/>
          </a:prstGeom>
          <a:ln w="9525"/>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7C4A0F12-7F63-4EF9-7BA7-6BC824DF3D4D}"/>
              </a:ext>
            </a:extLst>
          </p:cNvPr>
          <p:cNvCxnSpPr>
            <a:cxnSpLocks/>
            <a:endCxn id="22" idx="2"/>
          </p:cNvCxnSpPr>
          <p:nvPr/>
        </p:nvCxnSpPr>
        <p:spPr>
          <a:xfrm>
            <a:off x="8766277" y="4599610"/>
            <a:ext cx="405027" cy="0"/>
          </a:xfrm>
          <a:prstGeom prst="line">
            <a:avLst/>
          </a:prstGeom>
          <a:ln w="9525"/>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949AF1B9-2CE3-9C8A-7B9D-04D37FC97BF5}"/>
              </a:ext>
            </a:extLst>
          </p:cNvPr>
          <p:cNvCxnSpPr>
            <a:cxnSpLocks/>
            <a:endCxn id="37" idx="5"/>
          </p:cNvCxnSpPr>
          <p:nvPr/>
        </p:nvCxnSpPr>
        <p:spPr>
          <a:xfrm flipH="1" flipV="1">
            <a:off x="8542867" y="5738274"/>
            <a:ext cx="243323" cy="233349"/>
          </a:xfrm>
          <a:prstGeom prst="line">
            <a:avLst/>
          </a:prstGeom>
          <a:ln w="9525"/>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21D0C811-C446-496A-B375-6B8552654E80}"/>
              </a:ext>
            </a:extLst>
          </p:cNvPr>
          <p:cNvCxnSpPr>
            <a:cxnSpLocks/>
          </p:cNvCxnSpPr>
          <p:nvPr/>
        </p:nvCxnSpPr>
        <p:spPr>
          <a:xfrm>
            <a:off x="8766277" y="4599609"/>
            <a:ext cx="0" cy="352246"/>
          </a:xfrm>
          <a:prstGeom prst="line">
            <a:avLst/>
          </a:prstGeom>
          <a:ln w="9525"/>
        </p:spPr>
        <p:style>
          <a:lnRef idx="2">
            <a:schemeClr val="dk1"/>
          </a:lnRef>
          <a:fillRef idx="0">
            <a:schemeClr val="dk1"/>
          </a:fillRef>
          <a:effectRef idx="1">
            <a:schemeClr val="dk1"/>
          </a:effectRef>
          <a:fontRef idx="minor">
            <a:schemeClr val="tx1"/>
          </a:fontRef>
        </p:style>
      </p:cxnSp>
      <p:cxnSp>
        <p:nvCxnSpPr>
          <p:cNvPr id="73" name="Straight Connector 72">
            <a:extLst>
              <a:ext uri="{FF2B5EF4-FFF2-40B4-BE49-F238E27FC236}">
                <a16:creationId xmlns:a16="http://schemas.microsoft.com/office/drawing/2014/main" id="{537BE6D0-D214-65B6-CDAE-F4D614B31CAC}"/>
              </a:ext>
            </a:extLst>
          </p:cNvPr>
          <p:cNvCxnSpPr>
            <a:cxnSpLocks/>
            <a:stCxn id="38" idx="1"/>
          </p:cNvCxnSpPr>
          <p:nvPr/>
        </p:nvCxnSpPr>
        <p:spPr>
          <a:xfrm flipH="1" flipV="1">
            <a:off x="6303553" y="4599609"/>
            <a:ext cx="574033" cy="560148"/>
          </a:xfrm>
          <a:prstGeom prst="line">
            <a:avLst/>
          </a:prstGeom>
          <a:ln w="9525"/>
        </p:spPr>
        <p:style>
          <a:lnRef idx="2">
            <a:schemeClr val="dk1"/>
          </a:lnRef>
          <a:fillRef idx="0">
            <a:schemeClr val="dk1"/>
          </a:fillRef>
          <a:effectRef idx="1">
            <a:schemeClr val="dk1"/>
          </a:effectRef>
          <a:fontRef idx="minor">
            <a:schemeClr val="tx1"/>
          </a:fontRef>
        </p:style>
      </p:cxnSp>
      <p:sp>
        <p:nvSpPr>
          <p:cNvPr id="85" name="TextBox 84">
            <a:extLst>
              <a:ext uri="{FF2B5EF4-FFF2-40B4-BE49-F238E27FC236}">
                <a16:creationId xmlns:a16="http://schemas.microsoft.com/office/drawing/2014/main" id="{6C966BCD-AA12-D296-3C00-B2646007874A}"/>
              </a:ext>
            </a:extLst>
          </p:cNvPr>
          <p:cNvSpPr txBox="1"/>
          <p:nvPr/>
        </p:nvSpPr>
        <p:spPr>
          <a:xfrm>
            <a:off x="7077080" y="5551700"/>
            <a:ext cx="974375" cy="646331"/>
          </a:xfrm>
          <a:prstGeom prst="rect">
            <a:avLst/>
          </a:prstGeom>
          <a:noFill/>
        </p:spPr>
        <p:txBody>
          <a:bodyPr wrap="square" rtlCol="0">
            <a:spAutoFit/>
          </a:bodyPr>
          <a:lstStyle/>
          <a:p>
            <a:pPr algn="ctr"/>
            <a:r>
              <a:rPr lang="en-DE" sz="1200" dirty="0"/>
              <a:t>149 included articles</a:t>
            </a:r>
          </a:p>
        </p:txBody>
      </p:sp>
      <p:pic>
        <p:nvPicPr>
          <p:cNvPr id="86" name="Graphic 85">
            <a:extLst>
              <a:ext uri="{FF2B5EF4-FFF2-40B4-BE49-F238E27FC236}">
                <a16:creationId xmlns:a16="http://schemas.microsoft.com/office/drawing/2014/main" id="{70581A31-143C-999B-20BE-F7766CFF4F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52070" y="7952313"/>
            <a:ext cx="6416414" cy="3950994"/>
          </a:xfrm>
          <a:prstGeom prst="rect">
            <a:avLst/>
          </a:prstGeom>
        </p:spPr>
      </p:pic>
      <p:sp>
        <p:nvSpPr>
          <p:cNvPr id="87" name="TextBox 86">
            <a:extLst>
              <a:ext uri="{FF2B5EF4-FFF2-40B4-BE49-F238E27FC236}">
                <a16:creationId xmlns:a16="http://schemas.microsoft.com/office/drawing/2014/main" id="{CB1A4C47-DBC8-FCF0-F161-8B0CB39AB50F}"/>
              </a:ext>
            </a:extLst>
          </p:cNvPr>
          <p:cNvSpPr txBox="1"/>
          <p:nvPr/>
        </p:nvSpPr>
        <p:spPr>
          <a:xfrm>
            <a:off x="1810735" y="7767647"/>
            <a:ext cx="482600" cy="369332"/>
          </a:xfrm>
          <a:prstGeom prst="rect">
            <a:avLst/>
          </a:prstGeom>
          <a:noFill/>
        </p:spPr>
        <p:txBody>
          <a:bodyPr wrap="square" rtlCol="0">
            <a:spAutoFit/>
          </a:bodyPr>
          <a:lstStyle/>
          <a:p>
            <a:r>
              <a:rPr lang="en-DE" b="1" dirty="0"/>
              <a:t>B</a:t>
            </a:r>
          </a:p>
        </p:txBody>
      </p:sp>
      <p:sp>
        <p:nvSpPr>
          <p:cNvPr id="88" name="TextBox 87">
            <a:extLst>
              <a:ext uri="{FF2B5EF4-FFF2-40B4-BE49-F238E27FC236}">
                <a16:creationId xmlns:a16="http://schemas.microsoft.com/office/drawing/2014/main" id="{75E74A2A-E1C3-17C3-7193-B552CCFA4227}"/>
              </a:ext>
            </a:extLst>
          </p:cNvPr>
          <p:cNvSpPr txBox="1"/>
          <p:nvPr/>
        </p:nvSpPr>
        <p:spPr>
          <a:xfrm>
            <a:off x="1810735" y="3902244"/>
            <a:ext cx="482600" cy="369332"/>
          </a:xfrm>
          <a:prstGeom prst="rect">
            <a:avLst/>
          </a:prstGeom>
          <a:noFill/>
        </p:spPr>
        <p:txBody>
          <a:bodyPr wrap="square" rtlCol="0">
            <a:spAutoFit/>
          </a:bodyPr>
          <a:lstStyle/>
          <a:p>
            <a:r>
              <a:rPr lang="en-DE" b="1" dirty="0"/>
              <a:t>A</a:t>
            </a:r>
          </a:p>
        </p:txBody>
      </p:sp>
      <p:cxnSp>
        <p:nvCxnSpPr>
          <p:cNvPr id="3" name="Straight Connector 2">
            <a:extLst>
              <a:ext uri="{FF2B5EF4-FFF2-40B4-BE49-F238E27FC236}">
                <a16:creationId xmlns:a16="http://schemas.microsoft.com/office/drawing/2014/main" id="{2E55B8C3-74CC-6262-CE80-F3BF2CF709F8}"/>
              </a:ext>
            </a:extLst>
          </p:cNvPr>
          <p:cNvCxnSpPr>
            <a:cxnSpLocks/>
          </p:cNvCxnSpPr>
          <p:nvPr/>
        </p:nvCxnSpPr>
        <p:spPr>
          <a:xfrm>
            <a:off x="5985266" y="4599609"/>
            <a:ext cx="318287" cy="0"/>
          </a:xfrm>
          <a:prstGeom prst="line">
            <a:avLst/>
          </a:prstGeom>
          <a:ln w="9525"/>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F826C3C4-379B-CD9F-6D4D-53711A62AD50}"/>
              </a:ext>
            </a:extLst>
          </p:cNvPr>
          <p:cNvCxnSpPr>
            <a:cxnSpLocks/>
          </p:cNvCxnSpPr>
          <p:nvPr/>
        </p:nvCxnSpPr>
        <p:spPr>
          <a:xfrm>
            <a:off x="8786190" y="5971623"/>
            <a:ext cx="0" cy="321094"/>
          </a:xfrm>
          <a:prstGeom prst="line">
            <a:avLst/>
          </a:prstGeom>
          <a:ln w="9525"/>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49272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2382E85-D218-6622-9B94-7363504A2B8A}"/>
              </a:ext>
            </a:extLst>
          </p:cNvPr>
          <p:cNvSpPr txBox="1"/>
          <p:nvPr/>
        </p:nvSpPr>
        <p:spPr>
          <a:xfrm>
            <a:off x="3963986" y="11909763"/>
            <a:ext cx="10018714" cy="1754326"/>
          </a:xfrm>
          <a:prstGeom prst="rect">
            <a:avLst/>
          </a:prstGeom>
          <a:noFill/>
        </p:spPr>
        <p:txBody>
          <a:bodyPr wrap="square">
            <a:spAutoFit/>
          </a:bodyPr>
          <a:lstStyle/>
          <a:p>
            <a:r>
              <a:rPr lang="en-GB" b="1" dirty="0"/>
              <a:t>Figure S1 | PRISMA 2020 flow diagram for the study selection process.</a:t>
            </a:r>
            <a:r>
              <a:rPr lang="en-GB" dirty="0"/>
              <a:t> Shown are the number of records identified from various databases, the number of records screened, and the final number of studies included in the review, along with the reasons for exclusion at each stage. </a:t>
            </a:r>
            <a:r>
              <a:rPr lang="en-GB" i="1" dirty="0"/>
              <a:t>Abbreviations: ACM, Association for Computing Machinery; IEEE, Institute of Electrical and Electronics Engineers; LLM, Large Language Model; PRISMA, Preferred Reporting Items for Systematic Reviews and Meta-Analyses.</a:t>
            </a:r>
            <a:endParaRPr lang="en-DE" dirty="0"/>
          </a:p>
        </p:txBody>
      </p:sp>
      <p:pic>
        <p:nvPicPr>
          <p:cNvPr id="4" name="Picture 3" descr="A flowchart of records&#10;&#10;AI-generated content may be incorrect.">
            <a:extLst>
              <a:ext uri="{FF2B5EF4-FFF2-40B4-BE49-F238E27FC236}">
                <a16:creationId xmlns:a16="http://schemas.microsoft.com/office/drawing/2014/main" id="{F5098F38-EB08-2FA8-FA74-F041823EAA1D}"/>
              </a:ext>
            </a:extLst>
          </p:cNvPr>
          <p:cNvPicPr>
            <a:picLocks noChangeAspect="1"/>
          </p:cNvPicPr>
          <p:nvPr/>
        </p:nvPicPr>
        <p:blipFill>
          <a:blip r:embed="rId2"/>
          <a:stretch>
            <a:fillRect/>
          </a:stretch>
        </p:blipFill>
        <p:spPr>
          <a:xfrm>
            <a:off x="3963986" y="2144197"/>
            <a:ext cx="9622627" cy="9554743"/>
          </a:xfrm>
          <a:prstGeom prst="rect">
            <a:avLst/>
          </a:prstGeom>
        </p:spPr>
      </p:pic>
    </p:spTree>
    <p:extLst>
      <p:ext uri="{BB962C8B-B14F-4D97-AF65-F5344CB8AC3E}">
        <p14:creationId xmlns:p14="http://schemas.microsoft.com/office/powerpoint/2010/main" val="2827556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6C48-F827-0CD3-9D32-755EF8678DAE}"/>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DA003271-A2C7-B14E-B400-16FCF88E792D}"/>
              </a:ext>
            </a:extLst>
          </p:cNvPr>
          <p:cNvSpPr/>
          <p:nvPr/>
        </p:nvSpPr>
        <p:spPr>
          <a:xfrm>
            <a:off x="1962615" y="5644253"/>
            <a:ext cx="7493620" cy="5893173"/>
          </a:xfrm>
          <a:prstGeom prst="roundRect">
            <a:avLst>
              <a:gd name="adj" fmla="val 1509"/>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18" name="Graphic 117">
            <a:extLst>
              <a:ext uri="{FF2B5EF4-FFF2-40B4-BE49-F238E27FC236}">
                <a16:creationId xmlns:a16="http://schemas.microsoft.com/office/drawing/2014/main" id="{A98E08E4-192B-BFC3-8F3C-A4605238D13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199417" y="2578846"/>
            <a:ext cx="5704888" cy="2812268"/>
          </a:xfrm>
          <a:prstGeom prst="rect">
            <a:avLst/>
          </a:prstGeom>
        </p:spPr>
      </p:pic>
      <p:sp>
        <p:nvSpPr>
          <p:cNvPr id="19" name="Rounded Rectangle 18">
            <a:extLst>
              <a:ext uri="{FF2B5EF4-FFF2-40B4-BE49-F238E27FC236}">
                <a16:creationId xmlns:a16="http://schemas.microsoft.com/office/drawing/2014/main" id="{7755E5E9-516D-D75E-AEAB-D6E15D8ACC8B}"/>
              </a:ext>
            </a:extLst>
          </p:cNvPr>
          <p:cNvSpPr/>
          <p:nvPr/>
        </p:nvSpPr>
        <p:spPr>
          <a:xfrm>
            <a:off x="2217231" y="6307834"/>
            <a:ext cx="3162842" cy="2490352"/>
          </a:xfrm>
          <a:prstGeom prst="roundRect">
            <a:avLst>
              <a:gd name="adj" fmla="val 3502"/>
            </a:avLst>
          </a:prstGeom>
          <a:solidFill>
            <a:srgbClr val="028DFF">
              <a:alpha val="19538"/>
            </a:srgbClr>
          </a:solidFill>
          <a:ln w="15875">
            <a:solidFill>
              <a:srgbClr val="028DFF"/>
            </a:solidFill>
          </a:ln>
        </p:spPr>
        <p:style>
          <a:lnRef idx="2">
            <a:schemeClr val="accent1">
              <a:shade val="15000"/>
            </a:schemeClr>
          </a:lnRef>
          <a:fillRef idx="1">
            <a:schemeClr val="accent1"/>
          </a:fillRef>
          <a:effectRef idx="0">
            <a:schemeClr val="accent1"/>
          </a:effectRef>
          <a:fontRef idx="minor">
            <a:schemeClr val="lt1"/>
          </a:fontRef>
        </p:style>
        <p:txBody>
          <a:bodyPr lIns="144000" tIns="792000" rIns="144000" rtlCol="0" anchor="t"/>
          <a:lstStyle/>
          <a:p>
            <a:r>
              <a:rPr lang="en-DE" sz="1000" b="1" dirty="0">
                <a:solidFill>
                  <a:schemeClr val="tx1"/>
                </a:solidFill>
              </a:rPr>
              <a:t>Client-facing applications</a:t>
            </a:r>
          </a:p>
          <a:p>
            <a:pPr>
              <a:spcBef>
                <a:spcPts val="200"/>
              </a:spcBef>
              <a:spcAft>
                <a:spcPts val="600"/>
              </a:spcAft>
            </a:pPr>
            <a:r>
              <a:rPr lang="en-DE" sz="900" dirty="0">
                <a:solidFill>
                  <a:schemeClr val="tx1"/>
                </a:solidFill>
              </a:rPr>
              <a:t>Provide therapeutic interventions or emotional support directly to users</a:t>
            </a:r>
          </a:p>
        </p:txBody>
      </p:sp>
      <p:sp>
        <p:nvSpPr>
          <p:cNvPr id="22" name="Oval 21">
            <a:extLst>
              <a:ext uri="{FF2B5EF4-FFF2-40B4-BE49-F238E27FC236}">
                <a16:creationId xmlns:a16="http://schemas.microsoft.com/office/drawing/2014/main" id="{B7C742F1-E11E-8554-C761-67F4C4EDA6B8}"/>
              </a:ext>
            </a:extLst>
          </p:cNvPr>
          <p:cNvSpPr/>
          <p:nvPr/>
        </p:nvSpPr>
        <p:spPr>
          <a:xfrm>
            <a:off x="6026961" y="8459231"/>
            <a:ext cx="56065" cy="56065"/>
          </a:xfrm>
          <a:prstGeom prst="ellipse">
            <a:avLst/>
          </a:prstGeom>
          <a:solidFill>
            <a:srgbClr val="4DCC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aphicFrame>
        <p:nvGraphicFramePr>
          <p:cNvPr id="25" name="Chart 24">
            <a:extLst>
              <a:ext uri="{FF2B5EF4-FFF2-40B4-BE49-F238E27FC236}">
                <a16:creationId xmlns:a16="http://schemas.microsoft.com/office/drawing/2014/main" id="{7AF9A64E-6E33-7749-5318-1A8479F001FF}"/>
              </a:ext>
            </a:extLst>
          </p:cNvPr>
          <p:cNvGraphicFramePr>
            <a:graphicFrameLocks/>
          </p:cNvGraphicFramePr>
          <p:nvPr>
            <p:extLst>
              <p:ext uri="{D42A27DB-BD31-4B8C-83A1-F6EECF244321}">
                <p14:modId xmlns:p14="http://schemas.microsoft.com/office/powerpoint/2010/main" val="3216805341"/>
              </p:ext>
            </p:extLst>
          </p:nvPr>
        </p:nvGraphicFramePr>
        <p:xfrm>
          <a:off x="2577664" y="8858111"/>
          <a:ext cx="2242857" cy="2451454"/>
        </p:xfrm>
        <a:graphic>
          <a:graphicData uri="http://schemas.openxmlformats.org/drawingml/2006/chart">
            <c:chart xmlns:c="http://schemas.openxmlformats.org/drawingml/2006/chart" xmlns:r="http://schemas.openxmlformats.org/officeDocument/2006/relationships" r:id="rId5"/>
          </a:graphicData>
        </a:graphic>
      </p:graphicFrame>
      <p:sp>
        <p:nvSpPr>
          <p:cNvPr id="36" name="Oval 35">
            <a:extLst>
              <a:ext uri="{FF2B5EF4-FFF2-40B4-BE49-F238E27FC236}">
                <a16:creationId xmlns:a16="http://schemas.microsoft.com/office/drawing/2014/main" id="{AF96E7D4-DFA2-66E3-60FE-DC76848FE585}"/>
              </a:ext>
            </a:extLst>
          </p:cNvPr>
          <p:cNvSpPr/>
          <p:nvPr/>
        </p:nvSpPr>
        <p:spPr>
          <a:xfrm>
            <a:off x="4458423" y="9470659"/>
            <a:ext cx="56065" cy="56065"/>
          </a:xfrm>
          <a:prstGeom prst="ellipse">
            <a:avLst/>
          </a:prstGeom>
          <a:solidFill>
            <a:srgbClr val="4DC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7" name="Oval 36">
            <a:extLst>
              <a:ext uri="{FF2B5EF4-FFF2-40B4-BE49-F238E27FC236}">
                <a16:creationId xmlns:a16="http://schemas.microsoft.com/office/drawing/2014/main" id="{25829AAE-825F-42F9-277A-905CF0BFE54E}"/>
              </a:ext>
            </a:extLst>
          </p:cNvPr>
          <p:cNvSpPr/>
          <p:nvPr/>
        </p:nvSpPr>
        <p:spPr>
          <a:xfrm>
            <a:off x="4625457" y="9834246"/>
            <a:ext cx="56065" cy="56065"/>
          </a:xfrm>
          <a:prstGeom prst="ellipse">
            <a:avLst/>
          </a:prstGeom>
          <a:solidFill>
            <a:srgbClr val="C8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8" name="Oval 37">
            <a:extLst>
              <a:ext uri="{FF2B5EF4-FFF2-40B4-BE49-F238E27FC236}">
                <a16:creationId xmlns:a16="http://schemas.microsoft.com/office/drawing/2014/main" id="{F89402D8-6AB4-BAA0-D467-F82D65F5EFF2}"/>
              </a:ext>
            </a:extLst>
          </p:cNvPr>
          <p:cNvSpPr/>
          <p:nvPr/>
        </p:nvSpPr>
        <p:spPr>
          <a:xfrm>
            <a:off x="2850750" y="9515536"/>
            <a:ext cx="56065" cy="56065"/>
          </a:xfrm>
          <a:prstGeom prst="ellipse">
            <a:avLst/>
          </a:prstGeom>
          <a:solidFill>
            <a:srgbClr val="028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50" name="Straight Connector 49">
            <a:extLst>
              <a:ext uri="{FF2B5EF4-FFF2-40B4-BE49-F238E27FC236}">
                <a16:creationId xmlns:a16="http://schemas.microsoft.com/office/drawing/2014/main" id="{4AA64D14-E484-7CC1-3388-AFD2F818CCE1}"/>
              </a:ext>
            </a:extLst>
          </p:cNvPr>
          <p:cNvCxnSpPr>
            <a:cxnSpLocks/>
          </p:cNvCxnSpPr>
          <p:nvPr/>
        </p:nvCxnSpPr>
        <p:spPr>
          <a:xfrm flipV="1">
            <a:off x="5711628" y="8823053"/>
            <a:ext cx="1749" cy="675852"/>
          </a:xfrm>
          <a:prstGeom prst="line">
            <a:avLst/>
          </a:prstGeom>
          <a:ln w="25400">
            <a:solidFill>
              <a:srgbClr val="4DCC8E"/>
            </a:solidFill>
          </a:ln>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8CC0CE6E-3378-23EF-8219-79426F1BF201}"/>
              </a:ext>
            </a:extLst>
          </p:cNvPr>
          <p:cNvCxnSpPr>
            <a:cxnSpLocks/>
            <a:stCxn id="22" idx="3"/>
          </p:cNvCxnSpPr>
          <p:nvPr/>
        </p:nvCxnSpPr>
        <p:spPr>
          <a:xfrm flipH="1">
            <a:off x="5707676" y="8507085"/>
            <a:ext cx="327496" cy="332599"/>
          </a:xfrm>
          <a:prstGeom prst="line">
            <a:avLst/>
          </a:prstGeom>
          <a:ln w="25400">
            <a:solidFill>
              <a:srgbClr val="4DCC8E"/>
            </a:solidFill>
          </a:ln>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92BF62A0-03CC-C50C-A146-90DCDA4A0062}"/>
              </a:ext>
            </a:extLst>
          </p:cNvPr>
          <p:cNvCxnSpPr>
            <a:cxnSpLocks/>
          </p:cNvCxnSpPr>
          <p:nvPr/>
        </p:nvCxnSpPr>
        <p:spPr>
          <a:xfrm flipH="1">
            <a:off x="4514488" y="9498691"/>
            <a:ext cx="1197572" cy="0"/>
          </a:xfrm>
          <a:prstGeom prst="line">
            <a:avLst/>
          </a:prstGeom>
          <a:ln w="25400">
            <a:solidFill>
              <a:srgbClr val="4DCC8E"/>
            </a:solidFill>
          </a:ln>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0B423C36-0FCD-CC3E-C3AC-440DCDFB1935}"/>
              </a:ext>
            </a:extLst>
          </p:cNvPr>
          <p:cNvCxnSpPr>
            <a:cxnSpLocks/>
            <a:stCxn id="65" idx="2"/>
          </p:cNvCxnSpPr>
          <p:nvPr/>
        </p:nvCxnSpPr>
        <p:spPr>
          <a:xfrm flipH="1">
            <a:off x="4681522" y="9862279"/>
            <a:ext cx="1321790" cy="0"/>
          </a:xfrm>
          <a:prstGeom prst="line">
            <a:avLst/>
          </a:prstGeom>
          <a:ln w="25400">
            <a:solidFill>
              <a:srgbClr val="C800FF"/>
            </a:solidFill>
          </a:ln>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3B2A8A7F-7AF8-5946-3013-11682863D52D}"/>
              </a:ext>
            </a:extLst>
          </p:cNvPr>
          <p:cNvCxnSpPr>
            <a:cxnSpLocks/>
            <a:stCxn id="49" idx="4"/>
          </p:cNvCxnSpPr>
          <p:nvPr/>
        </p:nvCxnSpPr>
        <p:spPr>
          <a:xfrm>
            <a:off x="2511639" y="8829178"/>
            <a:ext cx="0" cy="337283"/>
          </a:xfrm>
          <a:prstGeom prst="line">
            <a:avLst/>
          </a:prstGeom>
          <a:ln w="25400">
            <a:solidFill>
              <a:srgbClr val="028DFF"/>
            </a:solidFill>
          </a:ln>
        </p:spPr>
        <p:style>
          <a:lnRef idx="2">
            <a:schemeClr val="dk1"/>
          </a:lnRef>
          <a:fillRef idx="0">
            <a:schemeClr val="dk1"/>
          </a:fillRef>
          <a:effectRef idx="1">
            <a:schemeClr val="dk1"/>
          </a:effectRef>
          <a:fontRef idx="minor">
            <a:schemeClr val="tx1"/>
          </a:fontRef>
        </p:style>
      </p:cxnSp>
      <p:cxnSp>
        <p:nvCxnSpPr>
          <p:cNvPr id="76" name="Straight Connector 75">
            <a:extLst>
              <a:ext uri="{FF2B5EF4-FFF2-40B4-BE49-F238E27FC236}">
                <a16:creationId xmlns:a16="http://schemas.microsoft.com/office/drawing/2014/main" id="{3561E8B8-2EF1-1B88-D781-E674C4CDF3EE}"/>
              </a:ext>
            </a:extLst>
          </p:cNvPr>
          <p:cNvCxnSpPr>
            <a:cxnSpLocks/>
            <a:endCxn id="38" idx="1"/>
          </p:cNvCxnSpPr>
          <p:nvPr/>
        </p:nvCxnSpPr>
        <p:spPr>
          <a:xfrm>
            <a:off x="2507784" y="9161773"/>
            <a:ext cx="351177" cy="361974"/>
          </a:xfrm>
          <a:prstGeom prst="line">
            <a:avLst/>
          </a:prstGeom>
          <a:ln w="25400">
            <a:solidFill>
              <a:srgbClr val="028DFF"/>
            </a:solidFill>
          </a:ln>
        </p:spPr>
        <p:style>
          <a:lnRef idx="2">
            <a:schemeClr val="dk1"/>
          </a:lnRef>
          <a:fillRef idx="0">
            <a:schemeClr val="dk1"/>
          </a:fillRef>
          <a:effectRef idx="1">
            <a:schemeClr val="dk1"/>
          </a:effectRef>
          <a:fontRef idx="minor">
            <a:schemeClr val="tx1"/>
          </a:fontRef>
        </p:style>
      </p:cxnSp>
      <p:sp>
        <p:nvSpPr>
          <p:cNvPr id="85" name="TextBox 84">
            <a:extLst>
              <a:ext uri="{FF2B5EF4-FFF2-40B4-BE49-F238E27FC236}">
                <a16:creationId xmlns:a16="http://schemas.microsoft.com/office/drawing/2014/main" id="{AA34F239-3BC3-9874-2B1C-2DB8370261BB}"/>
              </a:ext>
            </a:extLst>
          </p:cNvPr>
          <p:cNvSpPr txBox="1"/>
          <p:nvPr/>
        </p:nvSpPr>
        <p:spPr>
          <a:xfrm>
            <a:off x="3211904" y="9732427"/>
            <a:ext cx="974375" cy="646331"/>
          </a:xfrm>
          <a:prstGeom prst="rect">
            <a:avLst/>
          </a:prstGeom>
          <a:noFill/>
        </p:spPr>
        <p:txBody>
          <a:bodyPr wrap="square" rtlCol="0">
            <a:spAutoFit/>
          </a:bodyPr>
          <a:lstStyle/>
          <a:p>
            <a:pPr algn="ctr"/>
            <a:r>
              <a:rPr lang="en-DE" sz="1200" b="1" dirty="0"/>
              <a:t>132 included articles</a:t>
            </a:r>
          </a:p>
        </p:txBody>
      </p:sp>
      <p:sp>
        <p:nvSpPr>
          <p:cNvPr id="87" name="TextBox 86">
            <a:extLst>
              <a:ext uri="{FF2B5EF4-FFF2-40B4-BE49-F238E27FC236}">
                <a16:creationId xmlns:a16="http://schemas.microsoft.com/office/drawing/2014/main" id="{95FB861C-F3C0-10D1-BA9B-DAEB26C7D212}"/>
              </a:ext>
            </a:extLst>
          </p:cNvPr>
          <p:cNvSpPr txBox="1"/>
          <p:nvPr/>
        </p:nvSpPr>
        <p:spPr>
          <a:xfrm>
            <a:off x="1994496" y="2319311"/>
            <a:ext cx="482600" cy="369332"/>
          </a:xfrm>
          <a:prstGeom prst="rect">
            <a:avLst/>
          </a:prstGeom>
          <a:noFill/>
        </p:spPr>
        <p:txBody>
          <a:bodyPr wrap="square" rtlCol="0">
            <a:spAutoFit/>
          </a:bodyPr>
          <a:lstStyle/>
          <a:p>
            <a:r>
              <a:rPr lang="en-DE" b="1" dirty="0"/>
              <a:t>A</a:t>
            </a:r>
          </a:p>
        </p:txBody>
      </p:sp>
      <p:sp>
        <p:nvSpPr>
          <p:cNvPr id="88" name="TextBox 87">
            <a:extLst>
              <a:ext uri="{FF2B5EF4-FFF2-40B4-BE49-F238E27FC236}">
                <a16:creationId xmlns:a16="http://schemas.microsoft.com/office/drawing/2014/main" id="{B9D09DB1-1EEB-A586-CA0B-249297A5A680}"/>
              </a:ext>
            </a:extLst>
          </p:cNvPr>
          <p:cNvSpPr txBox="1"/>
          <p:nvPr/>
        </p:nvSpPr>
        <p:spPr>
          <a:xfrm>
            <a:off x="1994496" y="5695434"/>
            <a:ext cx="482600" cy="369332"/>
          </a:xfrm>
          <a:prstGeom prst="rect">
            <a:avLst/>
          </a:prstGeom>
          <a:noFill/>
        </p:spPr>
        <p:txBody>
          <a:bodyPr wrap="square" rtlCol="0">
            <a:spAutoFit/>
          </a:bodyPr>
          <a:lstStyle/>
          <a:p>
            <a:r>
              <a:rPr lang="en-DE" b="1" dirty="0"/>
              <a:t>B</a:t>
            </a:r>
          </a:p>
        </p:txBody>
      </p:sp>
      <p:sp>
        <p:nvSpPr>
          <p:cNvPr id="7" name="TextBox 6">
            <a:extLst>
              <a:ext uri="{FF2B5EF4-FFF2-40B4-BE49-F238E27FC236}">
                <a16:creationId xmlns:a16="http://schemas.microsoft.com/office/drawing/2014/main" id="{52C0EE85-9FCD-1138-CD10-4CDA0E48FE45}"/>
              </a:ext>
            </a:extLst>
          </p:cNvPr>
          <p:cNvSpPr txBox="1"/>
          <p:nvPr/>
        </p:nvSpPr>
        <p:spPr>
          <a:xfrm>
            <a:off x="3902211" y="9799508"/>
            <a:ext cx="974375" cy="276999"/>
          </a:xfrm>
          <a:prstGeom prst="rect">
            <a:avLst/>
          </a:prstGeom>
          <a:noFill/>
        </p:spPr>
        <p:txBody>
          <a:bodyPr wrap="square" rtlCol="0">
            <a:spAutoFit/>
          </a:bodyPr>
          <a:lstStyle/>
          <a:p>
            <a:pPr algn="ctr"/>
            <a:r>
              <a:rPr lang="en-DE" sz="1200" dirty="0"/>
              <a:t>8 %</a:t>
            </a:r>
          </a:p>
        </p:txBody>
      </p:sp>
      <p:sp>
        <p:nvSpPr>
          <p:cNvPr id="8" name="TextBox 7">
            <a:extLst>
              <a:ext uri="{FF2B5EF4-FFF2-40B4-BE49-F238E27FC236}">
                <a16:creationId xmlns:a16="http://schemas.microsoft.com/office/drawing/2014/main" id="{AB1BF1AF-A71B-E405-7BEC-FE7BD1ED75F3}"/>
              </a:ext>
            </a:extLst>
          </p:cNvPr>
          <p:cNvSpPr txBox="1"/>
          <p:nvPr/>
        </p:nvSpPr>
        <p:spPr>
          <a:xfrm>
            <a:off x="3787675" y="9497259"/>
            <a:ext cx="974375" cy="276999"/>
          </a:xfrm>
          <a:prstGeom prst="rect">
            <a:avLst/>
          </a:prstGeom>
          <a:noFill/>
        </p:spPr>
        <p:txBody>
          <a:bodyPr wrap="square" rtlCol="0">
            <a:spAutoFit/>
          </a:bodyPr>
          <a:lstStyle/>
          <a:p>
            <a:pPr algn="ctr"/>
            <a:r>
              <a:rPr lang="en-DE" sz="1200" dirty="0"/>
              <a:t>6 %</a:t>
            </a:r>
          </a:p>
        </p:txBody>
      </p:sp>
      <p:sp>
        <p:nvSpPr>
          <p:cNvPr id="18" name="Oval 17">
            <a:extLst>
              <a:ext uri="{FF2B5EF4-FFF2-40B4-BE49-F238E27FC236}">
                <a16:creationId xmlns:a16="http://schemas.microsoft.com/office/drawing/2014/main" id="{4775FBD1-DC9A-1DFE-ECBF-27B366FE6336}"/>
              </a:ext>
            </a:extLst>
          </p:cNvPr>
          <p:cNvSpPr/>
          <p:nvPr/>
        </p:nvSpPr>
        <p:spPr>
          <a:xfrm>
            <a:off x="3339440" y="5883605"/>
            <a:ext cx="935423" cy="93542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7" name="Picture 16" descr="A black background with a black square&#10;&#10;AI-generated content may be incorrect.">
            <a:extLst>
              <a:ext uri="{FF2B5EF4-FFF2-40B4-BE49-F238E27FC236}">
                <a16:creationId xmlns:a16="http://schemas.microsoft.com/office/drawing/2014/main" id="{06DB77D5-BBA1-A380-60B4-A366C1BB0A78}"/>
              </a:ext>
            </a:extLst>
          </p:cNvPr>
          <p:cNvPicPr>
            <a:picLocks noChangeAspect="1"/>
          </p:cNvPicPr>
          <p:nvPr/>
        </p:nvPicPr>
        <p:blipFill>
          <a:blip r:embed="rId6"/>
          <a:stretch>
            <a:fillRect/>
          </a:stretch>
        </p:blipFill>
        <p:spPr>
          <a:xfrm>
            <a:off x="3429152" y="5939559"/>
            <a:ext cx="755998" cy="755998"/>
          </a:xfrm>
          <a:prstGeom prst="rect">
            <a:avLst/>
          </a:prstGeom>
        </p:spPr>
      </p:pic>
      <p:sp>
        <p:nvSpPr>
          <p:cNvPr id="24" name="Rounded Rectangle 23">
            <a:extLst>
              <a:ext uri="{FF2B5EF4-FFF2-40B4-BE49-F238E27FC236}">
                <a16:creationId xmlns:a16="http://schemas.microsoft.com/office/drawing/2014/main" id="{683F828B-F399-25E4-D47D-B6060648846C}"/>
              </a:ext>
            </a:extLst>
          </p:cNvPr>
          <p:cNvSpPr/>
          <p:nvPr/>
        </p:nvSpPr>
        <p:spPr>
          <a:xfrm>
            <a:off x="6031346" y="9143227"/>
            <a:ext cx="3162842" cy="2126046"/>
          </a:xfrm>
          <a:prstGeom prst="roundRect">
            <a:avLst>
              <a:gd name="adj" fmla="val 3502"/>
            </a:avLst>
          </a:prstGeom>
          <a:solidFill>
            <a:srgbClr val="C800FF">
              <a:alpha val="20000"/>
            </a:srgbClr>
          </a:solidFill>
          <a:ln w="15875">
            <a:solidFill>
              <a:srgbClr val="C800FF"/>
            </a:solidFill>
          </a:ln>
        </p:spPr>
        <p:style>
          <a:lnRef idx="2">
            <a:schemeClr val="accent1">
              <a:shade val="15000"/>
            </a:schemeClr>
          </a:lnRef>
          <a:fillRef idx="1">
            <a:schemeClr val="accent1"/>
          </a:fillRef>
          <a:effectRef idx="0">
            <a:schemeClr val="accent1"/>
          </a:effectRef>
          <a:fontRef idx="minor">
            <a:schemeClr val="lt1"/>
          </a:fontRef>
        </p:style>
        <p:txBody>
          <a:bodyPr lIns="144000" tIns="792000" rIns="144000" rtlCol="0" anchor="t"/>
          <a:lstStyle/>
          <a:p>
            <a:r>
              <a:rPr lang="en-DE" sz="1000" b="1" dirty="0">
                <a:solidFill>
                  <a:schemeClr val="tx1"/>
                </a:solidFill>
              </a:rPr>
              <a:t>Text-based prediction</a:t>
            </a:r>
          </a:p>
          <a:p>
            <a:pPr>
              <a:spcBef>
                <a:spcPts val="200"/>
              </a:spcBef>
            </a:pPr>
            <a:r>
              <a:rPr lang="en-DE" sz="900" dirty="0">
                <a:solidFill>
                  <a:schemeClr val="tx1"/>
                </a:solidFill>
              </a:rPr>
              <a:t>Predict/detect a clinical construct, e.g. therapeutic alliance, depression severity, therapeutic fidelity</a:t>
            </a:r>
          </a:p>
        </p:txBody>
      </p:sp>
      <p:sp>
        <p:nvSpPr>
          <p:cNvPr id="39" name="Oval 38">
            <a:extLst>
              <a:ext uri="{FF2B5EF4-FFF2-40B4-BE49-F238E27FC236}">
                <a16:creationId xmlns:a16="http://schemas.microsoft.com/office/drawing/2014/main" id="{BB0C8027-A5B9-98B2-47E8-E5D38ECB2A74}"/>
              </a:ext>
            </a:extLst>
          </p:cNvPr>
          <p:cNvSpPr/>
          <p:nvPr/>
        </p:nvSpPr>
        <p:spPr>
          <a:xfrm>
            <a:off x="7153555" y="8718997"/>
            <a:ext cx="935423" cy="93542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40" name="Picture 39">
            <a:extLst>
              <a:ext uri="{FF2B5EF4-FFF2-40B4-BE49-F238E27FC236}">
                <a16:creationId xmlns:a16="http://schemas.microsoft.com/office/drawing/2014/main" id="{00292FF3-406D-A160-B3C8-68A1AD9DB505}"/>
              </a:ext>
            </a:extLst>
          </p:cNvPr>
          <p:cNvPicPr>
            <a:picLocks noChangeAspect="1"/>
          </p:cNvPicPr>
          <p:nvPr/>
        </p:nvPicPr>
        <p:blipFill>
          <a:blip r:embed="rId7"/>
          <a:srcRect/>
          <a:stretch/>
        </p:blipFill>
        <p:spPr>
          <a:xfrm>
            <a:off x="7243267" y="8774951"/>
            <a:ext cx="755998" cy="755998"/>
          </a:xfrm>
          <a:prstGeom prst="rect">
            <a:avLst/>
          </a:prstGeom>
        </p:spPr>
      </p:pic>
      <p:sp>
        <p:nvSpPr>
          <p:cNvPr id="41" name="Rounded Rectangle 40">
            <a:extLst>
              <a:ext uri="{FF2B5EF4-FFF2-40B4-BE49-F238E27FC236}">
                <a16:creationId xmlns:a16="http://schemas.microsoft.com/office/drawing/2014/main" id="{A05C9680-F0A2-B7B2-B9E1-A644B196B1BE}"/>
              </a:ext>
            </a:extLst>
          </p:cNvPr>
          <p:cNvSpPr/>
          <p:nvPr/>
        </p:nvSpPr>
        <p:spPr>
          <a:xfrm>
            <a:off x="6031346" y="6307834"/>
            <a:ext cx="3162842" cy="2198963"/>
          </a:xfrm>
          <a:prstGeom prst="roundRect">
            <a:avLst>
              <a:gd name="adj" fmla="val 3502"/>
            </a:avLst>
          </a:prstGeom>
          <a:solidFill>
            <a:srgbClr val="4DCC8E">
              <a:alpha val="19538"/>
            </a:srgbClr>
          </a:solidFill>
          <a:ln w="15875">
            <a:solidFill>
              <a:srgbClr val="4DCC8D"/>
            </a:solidFill>
          </a:ln>
        </p:spPr>
        <p:style>
          <a:lnRef idx="2">
            <a:schemeClr val="accent1">
              <a:shade val="15000"/>
            </a:schemeClr>
          </a:lnRef>
          <a:fillRef idx="1">
            <a:schemeClr val="accent1"/>
          </a:fillRef>
          <a:effectRef idx="0">
            <a:schemeClr val="accent1"/>
          </a:effectRef>
          <a:fontRef idx="minor">
            <a:schemeClr val="lt1"/>
          </a:fontRef>
        </p:style>
        <p:txBody>
          <a:bodyPr lIns="144000" tIns="792000" rIns="144000" rtlCol="0" anchor="t"/>
          <a:lstStyle/>
          <a:p>
            <a:r>
              <a:rPr lang="en-DE" sz="1000" b="1" dirty="0">
                <a:solidFill>
                  <a:schemeClr val="tx1"/>
                </a:solidFill>
              </a:rPr>
              <a:t>Therapist guidance applications</a:t>
            </a:r>
          </a:p>
          <a:p>
            <a:pPr>
              <a:spcBef>
                <a:spcPts val="200"/>
              </a:spcBef>
              <a:spcAft>
                <a:spcPts val="600"/>
              </a:spcAft>
            </a:pPr>
            <a:r>
              <a:rPr lang="en-DE" sz="900" dirty="0">
                <a:solidFill>
                  <a:schemeClr val="tx1"/>
                </a:solidFill>
              </a:rPr>
              <a:t>Monitor therapy sessions and suggest responses or improvements to the therapist’s language (e.g., what to say next)</a:t>
            </a:r>
          </a:p>
        </p:txBody>
      </p:sp>
      <p:sp>
        <p:nvSpPr>
          <p:cNvPr id="44" name="Oval 43">
            <a:extLst>
              <a:ext uri="{FF2B5EF4-FFF2-40B4-BE49-F238E27FC236}">
                <a16:creationId xmlns:a16="http://schemas.microsoft.com/office/drawing/2014/main" id="{1E58F86D-D356-BFB5-A878-949C7A5451A5}"/>
              </a:ext>
            </a:extLst>
          </p:cNvPr>
          <p:cNvSpPr/>
          <p:nvPr/>
        </p:nvSpPr>
        <p:spPr>
          <a:xfrm>
            <a:off x="7153555" y="5883605"/>
            <a:ext cx="935423" cy="93542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45" name="Picture 44">
            <a:extLst>
              <a:ext uri="{FF2B5EF4-FFF2-40B4-BE49-F238E27FC236}">
                <a16:creationId xmlns:a16="http://schemas.microsoft.com/office/drawing/2014/main" id="{5BC3ADEC-AE55-877A-2204-C7A8CCB01EDD}"/>
              </a:ext>
            </a:extLst>
          </p:cNvPr>
          <p:cNvPicPr>
            <a:picLocks noChangeAspect="1"/>
          </p:cNvPicPr>
          <p:nvPr/>
        </p:nvPicPr>
        <p:blipFill>
          <a:blip r:embed="rId8"/>
          <a:srcRect/>
          <a:stretch/>
        </p:blipFill>
        <p:spPr>
          <a:xfrm>
            <a:off x="7243267" y="5939559"/>
            <a:ext cx="755998" cy="755998"/>
          </a:xfrm>
          <a:prstGeom prst="rect">
            <a:avLst/>
          </a:prstGeom>
        </p:spPr>
      </p:pic>
      <p:sp>
        <p:nvSpPr>
          <p:cNvPr id="49" name="Oval 48">
            <a:extLst>
              <a:ext uri="{FF2B5EF4-FFF2-40B4-BE49-F238E27FC236}">
                <a16:creationId xmlns:a16="http://schemas.microsoft.com/office/drawing/2014/main" id="{4CC367CD-6044-2B04-553B-F8D3587D1AA4}"/>
              </a:ext>
            </a:extLst>
          </p:cNvPr>
          <p:cNvSpPr/>
          <p:nvPr/>
        </p:nvSpPr>
        <p:spPr>
          <a:xfrm>
            <a:off x="2483606" y="8773113"/>
            <a:ext cx="56065" cy="56065"/>
          </a:xfrm>
          <a:prstGeom prst="ellipse">
            <a:avLst/>
          </a:prstGeom>
          <a:solidFill>
            <a:srgbClr val="028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5" name="Oval 64">
            <a:extLst>
              <a:ext uri="{FF2B5EF4-FFF2-40B4-BE49-F238E27FC236}">
                <a16:creationId xmlns:a16="http://schemas.microsoft.com/office/drawing/2014/main" id="{B209C5C8-6181-FBCE-9216-BE0203FDCD3F}"/>
              </a:ext>
            </a:extLst>
          </p:cNvPr>
          <p:cNvSpPr/>
          <p:nvPr/>
        </p:nvSpPr>
        <p:spPr>
          <a:xfrm>
            <a:off x="6003312" y="9834246"/>
            <a:ext cx="56065" cy="56065"/>
          </a:xfrm>
          <a:prstGeom prst="ellipse">
            <a:avLst/>
          </a:prstGeom>
          <a:solidFill>
            <a:srgbClr val="C8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7" name="TextBox 66">
            <a:extLst>
              <a:ext uri="{FF2B5EF4-FFF2-40B4-BE49-F238E27FC236}">
                <a16:creationId xmlns:a16="http://schemas.microsoft.com/office/drawing/2014/main" id="{F902F60B-6263-1D2A-527D-10D165434985}"/>
              </a:ext>
            </a:extLst>
          </p:cNvPr>
          <p:cNvSpPr txBox="1"/>
          <p:nvPr/>
        </p:nvSpPr>
        <p:spPr>
          <a:xfrm>
            <a:off x="2616657" y="10341074"/>
            <a:ext cx="974375" cy="276999"/>
          </a:xfrm>
          <a:prstGeom prst="rect">
            <a:avLst/>
          </a:prstGeom>
          <a:noFill/>
        </p:spPr>
        <p:txBody>
          <a:bodyPr wrap="square" rtlCol="0">
            <a:spAutoFit/>
          </a:bodyPr>
          <a:lstStyle/>
          <a:p>
            <a:pPr algn="ctr"/>
            <a:r>
              <a:rPr lang="en-DE" sz="1200" dirty="0"/>
              <a:t>86 %</a:t>
            </a:r>
          </a:p>
        </p:txBody>
      </p:sp>
      <p:sp>
        <p:nvSpPr>
          <p:cNvPr id="111" name="TextBox 110">
            <a:extLst>
              <a:ext uri="{FF2B5EF4-FFF2-40B4-BE49-F238E27FC236}">
                <a16:creationId xmlns:a16="http://schemas.microsoft.com/office/drawing/2014/main" id="{C580BA79-5893-1685-B516-4176814525B2}"/>
              </a:ext>
            </a:extLst>
          </p:cNvPr>
          <p:cNvSpPr txBox="1"/>
          <p:nvPr/>
        </p:nvSpPr>
        <p:spPr>
          <a:xfrm>
            <a:off x="7867764" y="2965177"/>
            <a:ext cx="1329267" cy="461665"/>
          </a:xfrm>
          <a:prstGeom prst="rect">
            <a:avLst/>
          </a:prstGeom>
          <a:noFill/>
        </p:spPr>
        <p:txBody>
          <a:bodyPr wrap="square" rtlCol="0">
            <a:spAutoFit/>
          </a:bodyPr>
          <a:lstStyle/>
          <a:p>
            <a:r>
              <a:rPr lang="en-DE" sz="1200" dirty="0"/>
              <a:t>Inclusion cutoff: July 17, 2025</a:t>
            </a:r>
          </a:p>
        </p:txBody>
      </p:sp>
      <p:cxnSp>
        <p:nvCxnSpPr>
          <p:cNvPr id="113" name="Straight Arrow Connector 112">
            <a:extLst>
              <a:ext uri="{FF2B5EF4-FFF2-40B4-BE49-F238E27FC236}">
                <a16:creationId xmlns:a16="http://schemas.microsoft.com/office/drawing/2014/main" id="{BB78B4B9-08E3-42D6-2016-1BA69AA52A74}"/>
              </a:ext>
            </a:extLst>
          </p:cNvPr>
          <p:cNvCxnSpPr>
            <a:cxnSpLocks/>
            <a:stCxn id="111" idx="1"/>
          </p:cNvCxnSpPr>
          <p:nvPr/>
        </p:nvCxnSpPr>
        <p:spPr>
          <a:xfrm flipH="1">
            <a:off x="7529710" y="3196010"/>
            <a:ext cx="338054" cy="1690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 name="Rounded Rectangle 4">
            <a:extLst>
              <a:ext uri="{FF2B5EF4-FFF2-40B4-BE49-F238E27FC236}">
                <a16:creationId xmlns:a16="http://schemas.microsoft.com/office/drawing/2014/main" id="{70B2852F-0F46-2979-5834-A4C92C0C943A}"/>
              </a:ext>
            </a:extLst>
          </p:cNvPr>
          <p:cNvSpPr/>
          <p:nvPr/>
        </p:nvSpPr>
        <p:spPr>
          <a:xfrm>
            <a:off x="1962615" y="2252507"/>
            <a:ext cx="7493620" cy="3266045"/>
          </a:xfrm>
          <a:prstGeom prst="roundRect">
            <a:avLst>
              <a:gd name="adj" fmla="val 3646"/>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TextBox 11">
            <a:extLst>
              <a:ext uri="{FF2B5EF4-FFF2-40B4-BE49-F238E27FC236}">
                <a16:creationId xmlns:a16="http://schemas.microsoft.com/office/drawing/2014/main" id="{AA55A40B-3294-AB43-FFCF-31B104197CB0}"/>
              </a:ext>
            </a:extLst>
          </p:cNvPr>
          <p:cNvSpPr txBox="1"/>
          <p:nvPr/>
        </p:nvSpPr>
        <p:spPr>
          <a:xfrm>
            <a:off x="1962615" y="11654231"/>
            <a:ext cx="7493620" cy="3416320"/>
          </a:xfrm>
          <a:prstGeom prst="rect">
            <a:avLst/>
          </a:prstGeom>
          <a:noFill/>
        </p:spPr>
        <p:txBody>
          <a:bodyPr wrap="square">
            <a:spAutoFit/>
          </a:bodyPr>
          <a:lstStyle/>
          <a:p>
            <a:r>
              <a:rPr lang="en-GB" b="1" dirty="0"/>
              <a:t>Figure 1 | Publication trends and application types in included articles.</a:t>
            </a:r>
            <a:r>
              <a:rPr lang="en-GB" dirty="0"/>
              <a:t> The figure summarizes the 132 articles included in the review by application type and publication trend. </a:t>
            </a:r>
            <a:r>
              <a:rPr lang="en-GB" b="1" dirty="0"/>
              <a:t>A</a:t>
            </a:r>
            <a:r>
              <a:rPr lang="en-GB" dirty="0"/>
              <a:t>, Number of articles published annually from 2020 to 2025. The stacked bar chart shows the total count per year, categorized by the field of the publication venue (i.e., journal or conference) (Clinical/Health Sciences, Computational/Engineering, or Other). The data for 2025 reflects a partial year, with an inclusion cutoff date of July 17, 2025.</a:t>
            </a:r>
            <a:r>
              <a:rPr lang="en-GB" b="1" dirty="0"/>
              <a:t> B</a:t>
            </a:r>
            <a:r>
              <a:rPr lang="en-GB" dirty="0"/>
              <a:t>, Classification of the articles into three primary LLM application types. The donut chart illustrates the overall distribution, with detailed cards providing a further breakdown of sub-types and their respective article counts for client-facing applications, therapist guidance applications, and text-based prediction.</a:t>
            </a:r>
            <a:endParaRPr lang="en-DE" dirty="0"/>
          </a:p>
        </p:txBody>
      </p:sp>
      <p:graphicFrame>
        <p:nvGraphicFramePr>
          <p:cNvPr id="2" name="Chart 1">
            <a:extLst>
              <a:ext uri="{FF2B5EF4-FFF2-40B4-BE49-F238E27FC236}">
                <a16:creationId xmlns:a16="http://schemas.microsoft.com/office/drawing/2014/main" id="{181F4A8E-F0D7-75B8-C3EA-DA4642F244A8}"/>
              </a:ext>
            </a:extLst>
          </p:cNvPr>
          <p:cNvGraphicFramePr/>
          <p:nvPr>
            <p:extLst>
              <p:ext uri="{D42A27DB-BD31-4B8C-83A1-F6EECF244321}">
                <p14:modId xmlns:p14="http://schemas.microsoft.com/office/powerpoint/2010/main" val="1097809308"/>
              </p:ext>
            </p:extLst>
          </p:nvPr>
        </p:nvGraphicFramePr>
        <p:xfrm>
          <a:off x="2258408" y="7398282"/>
          <a:ext cx="4714205" cy="1535838"/>
        </p:xfrm>
        <a:graphic>
          <a:graphicData uri="http://schemas.openxmlformats.org/drawingml/2006/chart">
            <c:chart xmlns:c="http://schemas.openxmlformats.org/drawingml/2006/chart" xmlns:r="http://schemas.openxmlformats.org/officeDocument/2006/relationships" r:id="rId9"/>
          </a:graphicData>
        </a:graphic>
      </p:graphicFrame>
      <p:sp>
        <p:nvSpPr>
          <p:cNvPr id="3" name="Rounded Rectangle 2">
            <a:extLst>
              <a:ext uri="{FF2B5EF4-FFF2-40B4-BE49-F238E27FC236}">
                <a16:creationId xmlns:a16="http://schemas.microsoft.com/office/drawing/2014/main" id="{AD1DDDDB-943A-E930-4AB0-C07FE2A08997}"/>
              </a:ext>
            </a:extLst>
          </p:cNvPr>
          <p:cNvSpPr/>
          <p:nvPr/>
        </p:nvSpPr>
        <p:spPr>
          <a:xfrm>
            <a:off x="2363162" y="6882094"/>
            <a:ext cx="1131360" cy="202068"/>
          </a:xfrm>
          <a:prstGeom prst="roundRect">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DE" sz="1000" b="1" dirty="0">
                <a:solidFill>
                  <a:schemeClr val="tx1"/>
                </a:solidFill>
              </a:rPr>
              <a:t>114 articles (87 %)</a:t>
            </a:r>
          </a:p>
        </p:txBody>
      </p:sp>
      <p:graphicFrame>
        <p:nvGraphicFramePr>
          <p:cNvPr id="10" name="Chart 9">
            <a:extLst>
              <a:ext uri="{FF2B5EF4-FFF2-40B4-BE49-F238E27FC236}">
                <a16:creationId xmlns:a16="http://schemas.microsoft.com/office/drawing/2014/main" id="{C728A644-52F4-A244-B217-B96938905BF2}"/>
              </a:ext>
            </a:extLst>
          </p:cNvPr>
          <p:cNvGraphicFramePr/>
          <p:nvPr>
            <p:extLst>
              <p:ext uri="{D42A27DB-BD31-4B8C-83A1-F6EECF244321}">
                <p14:modId xmlns:p14="http://schemas.microsoft.com/office/powerpoint/2010/main" val="2810455791"/>
              </p:ext>
            </p:extLst>
          </p:nvPr>
        </p:nvGraphicFramePr>
        <p:xfrm>
          <a:off x="5709425" y="7684496"/>
          <a:ext cx="4714205" cy="770788"/>
        </p:xfrm>
        <a:graphic>
          <a:graphicData uri="http://schemas.openxmlformats.org/drawingml/2006/chart">
            <c:chart xmlns:c="http://schemas.openxmlformats.org/drawingml/2006/chart" xmlns:r="http://schemas.openxmlformats.org/officeDocument/2006/relationships" r:id="rId10"/>
          </a:graphicData>
        </a:graphic>
      </p:graphicFrame>
      <p:cxnSp>
        <p:nvCxnSpPr>
          <p:cNvPr id="13" name="Straight Connector 12">
            <a:extLst>
              <a:ext uri="{FF2B5EF4-FFF2-40B4-BE49-F238E27FC236}">
                <a16:creationId xmlns:a16="http://schemas.microsoft.com/office/drawing/2014/main" id="{286BEEF1-F319-F237-0233-8767B5663768}"/>
              </a:ext>
            </a:extLst>
          </p:cNvPr>
          <p:cNvCxnSpPr>
            <a:cxnSpLocks/>
          </p:cNvCxnSpPr>
          <p:nvPr/>
        </p:nvCxnSpPr>
        <p:spPr>
          <a:xfrm>
            <a:off x="4528331" y="8551836"/>
            <a:ext cx="72676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93AF076-45FB-8370-89C2-2202279D1597}"/>
              </a:ext>
            </a:extLst>
          </p:cNvPr>
          <p:cNvCxnSpPr>
            <a:cxnSpLocks/>
          </p:cNvCxnSpPr>
          <p:nvPr/>
        </p:nvCxnSpPr>
        <p:spPr>
          <a:xfrm>
            <a:off x="7978764" y="8268303"/>
            <a:ext cx="72676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Rounded Rectangle 22">
            <a:extLst>
              <a:ext uri="{FF2B5EF4-FFF2-40B4-BE49-F238E27FC236}">
                <a16:creationId xmlns:a16="http://schemas.microsoft.com/office/drawing/2014/main" id="{2ADBFA03-00A4-E431-9BAE-E9FEF2220EDE}"/>
              </a:ext>
            </a:extLst>
          </p:cNvPr>
          <p:cNvSpPr/>
          <p:nvPr/>
        </p:nvSpPr>
        <p:spPr>
          <a:xfrm>
            <a:off x="6193587" y="6877999"/>
            <a:ext cx="987318" cy="202068"/>
          </a:xfrm>
          <a:prstGeom prst="roundRect">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DE" sz="1000" b="1" dirty="0">
                <a:solidFill>
                  <a:schemeClr val="tx1"/>
                </a:solidFill>
              </a:rPr>
              <a:t>8 articles (6 %)</a:t>
            </a:r>
          </a:p>
        </p:txBody>
      </p:sp>
      <p:sp>
        <p:nvSpPr>
          <p:cNvPr id="26" name="Rounded Rectangle 25">
            <a:extLst>
              <a:ext uri="{FF2B5EF4-FFF2-40B4-BE49-F238E27FC236}">
                <a16:creationId xmlns:a16="http://schemas.microsoft.com/office/drawing/2014/main" id="{81AC697E-76CF-E20C-CA60-6DD3C95E4220}"/>
              </a:ext>
            </a:extLst>
          </p:cNvPr>
          <p:cNvSpPr/>
          <p:nvPr/>
        </p:nvSpPr>
        <p:spPr>
          <a:xfrm>
            <a:off x="6193587" y="9707416"/>
            <a:ext cx="987318" cy="202068"/>
          </a:xfrm>
          <a:prstGeom prst="roundRect">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DE" sz="1000" b="1" dirty="0">
                <a:solidFill>
                  <a:schemeClr val="tx1"/>
                </a:solidFill>
              </a:rPr>
              <a:t>10 articles (7 %)</a:t>
            </a:r>
          </a:p>
        </p:txBody>
      </p:sp>
    </p:spTree>
    <p:extLst>
      <p:ext uri="{BB962C8B-B14F-4D97-AF65-F5344CB8AC3E}">
        <p14:creationId xmlns:p14="http://schemas.microsoft.com/office/powerpoint/2010/main" val="1667378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a:extLst>
              <a:ext uri="{FF2B5EF4-FFF2-40B4-BE49-F238E27FC236}">
                <a16:creationId xmlns:a16="http://schemas.microsoft.com/office/drawing/2014/main" id="{30ACA67B-8149-1177-0125-32B5DBCF1820}"/>
              </a:ext>
            </a:extLst>
          </p:cNvPr>
          <p:cNvSpPr/>
          <p:nvPr/>
        </p:nvSpPr>
        <p:spPr>
          <a:xfrm>
            <a:off x="4449155" y="1460412"/>
            <a:ext cx="1273221" cy="2880000"/>
          </a:xfrm>
          <a:prstGeom prst="roundRect">
            <a:avLst>
              <a:gd name="adj" fmla="val 3502"/>
            </a:avLst>
          </a:prstGeom>
          <a:solidFill>
            <a:srgbClr val="028DFF">
              <a:alpha val="19538"/>
            </a:srgbClr>
          </a:solidFill>
          <a:ln w="15875">
            <a:solidFill>
              <a:srgbClr val="028DFF"/>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360000" rIns="144000" bIns="72000" rtlCol="0" anchor="ctr" anchorCtr="0">
            <a:noAutofit/>
          </a:bodyPr>
          <a:lstStyle/>
          <a:p>
            <a:pPr algn="ctr"/>
            <a:r>
              <a:rPr lang="en-DE" sz="1100" b="1" dirty="0">
                <a:solidFill>
                  <a:schemeClr val="tx1"/>
                </a:solidFill>
              </a:rPr>
              <a:t>114 articles on</a:t>
            </a:r>
          </a:p>
          <a:p>
            <a:pPr algn="ctr"/>
            <a:r>
              <a:rPr lang="en-GB" sz="1100" b="1" dirty="0">
                <a:solidFill>
                  <a:schemeClr val="tx1"/>
                </a:solidFill>
              </a:rPr>
              <a:t>client-facing applications</a:t>
            </a:r>
            <a:endParaRPr lang="en-DE" sz="1050" dirty="0">
              <a:solidFill>
                <a:schemeClr val="tx1"/>
              </a:solidFill>
            </a:endParaRPr>
          </a:p>
        </p:txBody>
      </p:sp>
      <p:grpSp>
        <p:nvGrpSpPr>
          <p:cNvPr id="20" name="Group 19">
            <a:extLst>
              <a:ext uri="{FF2B5EF4-FFF2-40B4-BE49-F238E27FC236}">
                <a16:creationId xmlns:a16="http://schemas.microsoft.com/office/drawing/2014/main" id="{0FC1DDB4-B141-80E3-BD37-B2E6D11DF9C8}"/>
              </a:ext>
            </a:extLst>
          </p:cNvPr>
          <p:cNvGrpSpPr/>
          <p:nvPr/>
        </p:nvGrpSpPr>
        <p:grpSpPr>
          <a:xfrm>
            <a:off x="4774951" y="1143443"/>
            <a:ext cx="633941" cy="633941"/>
            <a:chOff x="2385711" y="2797517"/>
            <a:chExt cx="935423" cy="935423"/>
          </a:xfrm>
        </p:grpSpPr>
        <p:sp>
          <p:nvSpPr>
            <p:cNvPr id="18" name="Oval 17">
              <a:extLst>
                <a:ext uri="{FF2B5EF4-FFF2-40B4-BE49-F238E27FC236}">
                  <a16:creationId xmlns:a16="http://schemas.microsoft.com/office/drawing/2014/main" id="{08F53BE9-18EA-CB0C-628A-363E96612287}"/>
                </a:ext>
              </a:extLst>
            </p:cNvPr>
            <p:cNvSpPr/>
            <p:nvPr/>
          </p:nvSpPr>
          <p:spPr>
            <a:xfrm>
              <a:off x="2385711" y="2797517"/>
              <a:ext cx="935423" cy="93542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9" name="Picture 18" descr="A black background with a black square&#10;&#10;AI-generated content may be incorrect.">
              <a:extLst>
                <a:ext uri="{FF2B5EF4-FFF2-40B4-BE49-F238E27FC236}">
                  <a16:creationId xmlns:a16="http://schemas.microsoft.com/office/drawing/2014/main" id="{FC664C2D-1ABC-DE3D-5EBA-FBA87C15D9D2}"/>
                </a:ext>
              </a:extLst>
            </p:cNvPr>
            <p:cNvPicPr>
              <a:picLocks noChangeAspect="1"/>
            </p:cNvPicPr>
            <p:nvPr/>
          </p:nvPicPr>
          <p:blipFill>
            <a:blip r:embed="rId2"/>
            <a:stretch>
              <a:fillRect/>
            </a:stretch>
          </p:blipFill>
          <p:spPr>
            <a:xfrm>
              <a:off x="2475423" y="2853471"/>
              <a:ext cx="755998" cy="755998"/>
            </a:xfrm>
            <a:prstGeom prst="rect">
              <a:avLst/>
            </a:prstGeom>
          </p:spPr>
        </p:pic>
      </p:grpSp>
      <p:sp>
        <p:nvSpPr>
          <p:cNvPr id="21" name="Rounded Rectangle 20">
            <a:extLst>
              <a:ext uri="{FF2B5EF4-FFF2-40B4-BE49-F238E27FC236}">
                <a16:creationId xmlns:a16="http://schemas.microsoft.com/office/drawing/2014/main" id="{369A15BB-2B20-2A02-0F53-68B9EF584E1F}"/>
              </a:ext>
            </a:extLst>
          </p:cNvPr>
          <p:cNvSpPr/>
          <p:nvPr/>
        </p:nvSpPr>
        <p:spPr>
          <a:xfrm>
            <a:off x="6048172" y="1460413"/>
            <a:ext cx="1273221" cy="917999"/>
          </a:xfrm>
          <a:prstGeom prst="roundRect">
            <a:avLst>
              <a:gd name="adj" fmla="val 3502"/>
            </a:avLst>
          </a:prstGeom>
          <a:solidFill>
            <a:srgbClr val="D82F34">
              <a:alpha val="20000"/>
            </a:srgbClr>
          </a:solidFill>
          <a:ln w="15875">
            <a:solidFill>
              <a:srgbClr val="D82F34"/>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ctr" anchorCtr="0">
            <a:noAutofit/>
          </a:bodyPr>
          <a:lstStyle/>
          <a:p>
            <a:pPr algn="ctr"/>
            <a:r>
              <a:rPr lang="en-DE" sz="1000" b="1" dirty="0">
                <a:solidFill>
                  <a:schemeClr val="tx1"/>
                </a:solidFill>
              </a:rPr>
              <a:t>36 articles </a:t>
            </a:r>
            <a:r>
              <a:rPr lang="de-DE" sz="1000" b="1" dirty="0" err="1">
                <a:solidFill>
                  <a:schemeClr val="tx1"/>
                </a:solidFill>
              </a:rPr>
              <a:t>including</a:t>
            </a:r>
            <a:r>
              <a:rPr lang="de-DE" sz="1000" b="1" dirty="0">
                <a:solidFill>
                  <a:schemeClr val="tx1"/>
                </a:solidFill>
              </a:rPr>
              <a:t> human </a:t>
            </a:r>
            <a:r>
              <a:rPr lang="de-DE" sz="1000" b="1" dirty="0" err="1">
                <a:solidFill>
                  <a:schemeClr val="tx1"/>
                </a:solidFill>
              </a:rPr>
              <a:t>participants</a:t>
            </a:r>
            <a:endParaRPr lang="en-DE" sz="900" dirty="0">
              <a:solidFill>
                <a:schemeClr val="tx1"/>
              </a:solidFill>
            </a:endParaRPr>
          </a:p>
        </p:txBody>
      </p:sp>
      <p:sp>
        <p:nvSpPr>
          <p:cNvPr id="22" name="Rounded Rectangle 21">
            <a:extLst>
              <a:ext uri="{FF2B5EF4-FFF2-40B4-BE49-F238E27FC236}">
                <a16:creationId xmlns:a16="http://schemas.microsoft.com/office/drawing/2014/main" id="{0C887BA2-3F32-2272-E208-3EACC25EA98C}"/>
              </a:ext>
            </a:extLst>
          </p:cNvPr>
          <p:cNvSpPr/>
          <p:nvPr/>
        </p:nvSpPr>
        <p:spPr>
          <a:xfrm>
            <a:off x="6048172" y="2467270"/>
            <a:ext cx="1273221" cy="1873142"/>
          </a:xfrm>
          <a:prstGeom prst="roundRect">
            <a:avLst>
              <a:gd name="adj" fmla="val 3502"/>
            </a:avLst>
          </a:prstGeom>
          <a:solidFill>
            <a:srgbClr val="003A7D">
              <a:alpha val="90000"/>
            </a:srgbClr>
          </a:solidFill>
          <a:ln w="15875">
            <a:solidFill>
              <a:srgbClr val="001732"/>
            </a:solidFill>
          </a:ln>
        </p:spPr>
        <p:style>
          <a:lnRef idx="2">
            <a:schemeClr val="accent1">
              <a:shade val="15000"/>
            </a:schemeClr>
          </a:lnRef>
          <a:fillRef idx="1">
            <a:schemeClr val="accent1"/>
          </a:fillRef>
          <a:effectRef idx="0">
            <a:schemeClr val="accent1"/>
          </a:effectRef>
          <a:fontRef idx="minor">
            <a:schemeClr val="lt1"/>
          </a:fontRef>
        </p:style>
        <p:txBody>
          <a:bodyPr wrap="square" lIns="36000" tIns="72000" rIns="36000" bIns="72000" rtlCol="0" anchor="ctr" anchorCtr="0">
            <a:noAutofit/>
          </a:bodyPr>
          <a:lstStyle/>
          <a:p>
            <a:pPr algn="ctr"/>
            <a:r>
              <a:rPr lang="en-DE" sz="1000" b="1" dirty="0">
                <a:solidFill>
                  <a:schemeClr val="bg1"/>
                </a:solidFill>
              </a:rPr>
              <a:t>78 articles</a:t>
            </a:r>
          </a:p>
          <a:p>
            <a:pPr algn="ctr"/>
            <a:r>
              <a:rPr lang="en-DE" sz="1000" b="1" dirty="0">
                <a:solidFill>
                  <a:schemeClr val="bg1"/>
                </a:solidFill>
              </a:rPr>
              <a:t>not </a:t>
            </a:r>
            <a:r>
              <a:rPr lang="de-DE" sz="1000" b="1" dirty="0" err="1">
                <a:solidFill>
                  <a:schemeClr val="bg1"/>
                </a:solidFill>
              </a:rPr>
              <a:t>including</a:t>
            </a:r>
            <a:r>
              <a:rPr lang="de-DE" sz="1000" b="1" dirty="0">
                <a:solidFill>
                  <a:schemeClr val="bg1"/>
                </a:solidFill>
              </a:rPr>
              <a:t> human </a:t>
            </a:r>
            <a:r>
              <a:rPr lang="de-DE" sz="1000" b="1" dirty="0" err="1">
                <a:solidFill>
                  <a:schemeClr val="bg1"/>
                </a:solidFill>
              </a:rPr>
              <a:t>participants</a:t>
            </a:r>
            <a:endParaRPr lang="de-DE" sz="1000" b="1" dirty="0">
              <a:solidFill>
                <a:schemeClr val="bg1"/>
              </a:solidFill>
            </a:endParaRPr>
          </a:p>
          <a:p>
            <a:pPr algn="ctr"/>
            <a:endParaRPr lang="de-DE" sz="1000" b="1" dirty="0">
              <a:solidFill>
                <a:schemeClr val="bg1"/>
              </a:solidFill>
            </a:endParaRPr>
          </a:p>
          <a:p>
            <a:pPr algn="ctr"/>
            <a:r>
              <a:rPr lang="de-DE" sz="1000" dirty="0">
                <a:solidFill>
                  <a:schemeClr val="bg1"/>
                </a:solidFill>
              </a:rPr>
              <a:t>(</a:t>
            </a:r>
            <a:r>
              <a:rPr lang="de-DE" sz="1000" dirty="0" err="1">
                <a:solidFill>
                  <a:schemeClr val="bg1"/>
                </a:solidFill>
              </a:rPr>
              <a:t>these</a:t>
            </a:r>
            <a:r>
              <a:rPr lang="de-DE" sz="1000" dirty="0">
                <a:solidFill>
                  <a:schemeClr val="bg1"/>
                </a:solidFill>
              </a:rPr>
              <a:t> </a:t>
            </a:r>
            <a:r>
              <a:rPr lang="de-DE" sz="1000" dirty="0" err="1">
                <a:solidFill>
                  <a:schemeClr val="bg1"/>
                </a:solidFill>
              </a:rPr>
              <a:t>develop</a:t>
            </a:r>
            <a:r>
              <a:rPr lang="de-DE" sz="1000" dirty="0">
                <a:solidFill>
                  <a:schemeClr val="bg1"/>
                </a:solidFill>
              </a:rPr>
              <a:t> and </a:t>
            </a:r>
            <a:r>
              <a:rPr lang="de-DE" sz="1000" dirty="0" err="1">
                <a:solidFill>
                  <a:schemeClr val="bg1"/>
                </a:solidFill>
              </a:rPr>
              <a:t>evaluate</a:t>
            </a:r>
            <a:r>
              <a:rPr lang="de-DE" sz="1000" dirty="0">
                <a:solidFill>
                  <a:schemeClr val="bg1"/>
                </a:solidFill>
              </a:rPr>
              <a:t> </a:t>
            </a:r>
            <a:r>
              <a:rPr lang="de-DE" sz="1000" dirty="0" err="1">
                <a:solidFill>
                  <a:schemeClr val="bg1"/>
                </a:solidFill>
              </a:rPr>
              <a:t>applica-tions</a:t>
            </a:r>
            <a:r>
              <a:rPr lang="de-DE" sz="1000" dirty="0">
                <a:solidFill>
                  <a:schemeClr val="bg1"/>
                </a:solidFill>
              </a:rPr>
              <a:t> </a:t>
            </a:r>
            <a:r>
              <a:rPr lang="de-DE" sz="1000" dirty="0" err="1">
                <a:solidFill>
                  <a:schemeClr val="bg1"/>
                </a:solidFill>
              </a:rPr>
              <a:t>using</a:t>
            </a:r>
            <a:r>
              <a:rPr lang="de-DE" sz="1000" dirty="0">
                <a:solidFill>
                  <a:schemeClr val="bg1"/>
                </a:solidFill>
              </a:rPr>
              <a:t> </a:t>
            </a:r>
            <a:r>
              <a:rPr lang="de-DE" sz="1000" dirty="0" err="1">
                <a:solidFill>
                  <a:schemeClr val="bg1"/>
                </a:solidFill>
              </a:rPr>
              <a:t>existing</a:t>
            </a:r>
            <a:r>
              <a:rPr lang="de-DE" sz="1000" dirty="0">
                <a:solidFill>
                  <a:schemeClr val="bg1"/>
                </a:solidFill>
              </a:rPr>
              <a:t> </a:t>
            </a:r>
            <a:r>
              <a:rPr lang="de-DE" sz="1000" dirty="0" err="1">
                <a:solidFill>
                  <a:schemeClr val="bg1"/>
                </a:solidFill>
              </a:rPr>
              <a:t>observational</a:t>
            </a:r>
            <a:r>
              <a:rPr lang="de-DE" sz="1000" dirty="0">
                <a:solidFill>
                  <a:schemeClr val="bg1"/>
                </a:solidFill>
              </a:rPr>
              <a:t> </a:t>
            </a:r>
            <a:r>
              <a:rPr lang="de-DE" sz="1000" dirty="0" err="1">
                <a:solidFill>
                  <a:schemeClr val="bg1"/>
                </a:solidFill>
              </a:rPr>
              <a:t>data</a:t>
            </a:r>
            <a:r>
              <a:rPr lang="de-DE" sz="1000" dirty="0">
                <a:solidFill>
                  <a:schemeClr val="bg1"/>
                </a:solidFill>
              </a:rPr>
              <a:t>-sets)</a:t>
            </a:r>
            <a:endParaRPr lang="en-DE" sz="900" dirty="0">
              <a:solidFill>
                <a:schemeClr val="bg1"/>
              </a:solidFill>
            </a:endParaRPr>
          </a:p>
        </p:txBody>
      </p:sp>
      <p:pic>
        <p:nvPicPr>
          <p:cNvPr id="25" name="Graphic 24">
            <a:extLst>
              <a:ext uri="{FF2B5EF4-FFF2-40B4-BE49-F238E27FC236}">
                <a16:creationId xmlns:a16="http://schemas.microsoft.com/office/drawing/2014/main" id="{49B48ACD-4D3E-C21D-5B5D-800AB67E521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8323207" y="1181363"/>
            <a:ext cx="4964071" cy="3270447"/>
          </a:xfrm>
          <a:prstGeom prst="rect">
            <a:avLst/>
          </a:prstGeom>
        </p:spPr>
      </p:pic>
      <p:cxnSp>
        <p:nvCxnSpPr>
          <p:cNvPr id="27" name="Straight Arrow Connector 26">
            <a:extLst>
              <a:ext uri="{FF2B5EF4-FFF2-40B4-BE49-F238E27FC236}">
                <a16:creationId xmlns:a16="http://schemas.microsoft.com/office/drawing/2014/main" id="{8EA48E3B-B33D-CCD2-BD7A-1979906003BD}"/>
              </a:ext>
            </a:extLst>
          </p:cNvPr>
          <p:cNvCxnSpPr/>
          <p:nvPr/>
        </p:nvCxnSpPr>
        <p:spPr>
          <a:xfrm>
            <a:off x="5723707" y="1914121"/>
            <a:ext cx="32446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43DBDA6-3529-258B-D488-889EA09BFD48}"/>
              </a:ext>
            </a:extLst>
          </p:cNvPr>
          <p:cNvCxnSpPr/>
          <p:nvPr/>
        </p:nvCxnSpPr>
        <p:spPr>
          <a:xfrm>
            <a:off x="5723707" y="3393876"/>
            <a:ext cx="32446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2" name="Graphic 31">
            <a:extLst>
              <a:ext uri="{FF2B5EF4-FFF2-40B4-BE49-F238E27FC236}">
                <a16:creationId xmlns:a16="http://schemas.microsoft.com/office/drawing/2014/main" id="{F1CAA181-981A-28AD-72D8-ACEC8D257A9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031958" y="4974793"/>
            <a:ext cx="5807241" cy="8409264"/>
          </a:xfrm>
          <a:prstGeom prst="rect">
            <a:avLst/>
          </a:prstGeom>
        </p:spPr>
      </p:pic>
      <p:sp>
        <p:nvSpPr>
          <p:cNvPr id="33" name="Rounded Rectangle 32">
            <a:extLst>
              <a:ext uri="{FF2B5EF4-FFF2-40B4-BE49-F238E27FC236}">
                <a16:creationId xmlns:a16="http://schemas.microsoft.com/office/drawing/2014/main" id="{C9BD4FE4-C722-E552-B423-5CF2492A87C4}"/>
              </a:ext>
            </a:extLst>
          </p:cNvPr>
          <p:cNvSpPr/>
          <p:nvPr/>
        </p:nvSpPr>
        <p:spPr>
          <a:xfrm>
            <a:off x="2871018" y="879815"/>
            <a:ext cx="11759382" cy="3679458"/>
          </a:xfrm>
          <a:prstGeom prst="roundRect">
            <a:avLst>
              <a:gd name="adj" fmla="val 1509"/>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4" name="Rounded Rectangle 33">
            <a:extLst>
              <a:ext uri="{FF2B5EF4-FFF2-40B4-BE49-F238E27FC236}">
                <a16:creationId xmlns:a16="http://schemas.microsoft.com/office/drawing/2014/main" id="{4389723D-9A0F-A065-A00C-F730DDA303A1}"/>
              </a:ext>
            </a:extLst>
          </p:cNvPr>
          <p:cNvSpPr/>
          <p:nvPr/>
        </p:nvSpPr>
        <p:spPr>
          <a:xfrm>
            <a:off x="2871018" y="4718266"/>
            <a:ext cx="6204155" cy="8830586"/>
          </a:xfrm>
          <a:prstGeom prst="roundRect">
            <a:avLst>
              <a:gd name="adj" fmla="val 1509"/>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36" name="Graphic 35">
            <a:extLst>
              <a:ext uri="{FF2B5EF4-FFF2-40B4-BE49-F238E27FC236}">
                <a16:creationId xmlns:a16="http://schemas.microsoft.com/office/drawing/2014/main" id="{54C478AA-7341-45DC-58AD-5A8221C5CFD0}"/>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320475" y="4926118"/>
            <a:ext cx="5180575" cy="8428807"/>
          </a:xfrm>
          <a:prstGeom prst="rect">
            <a:avLst/>
          </a:prstGeom>
        </p:spPr>
      </p:pic>
      <p:sp>
        <p:nvSpPr>
          <p:cNvPr id="37" name="Rounded Rectangle 36">
            <a:extLst>
              <a:ext uri="{FF2B5EF4-FFF2-40B4-BE49-F238E27FC236}">
                <a16:creationId xmlns:a16="http://schemas.microsoft.com/office/drawing/2014/main" id="{46E77800-1DCC-9B43-C0D2-921DA7DB1CE7}"/>
              </a:ext>
            </a:extLst>
          </p:cNvPr>
          <p:cNvSpPr/>
          <p:nvPr/>
        </p:nvSpPr>
        <p:spPr>
          <a:xfrm>
            <a:off x="9237405" y="4718266"/>
            <a:ext cx="5392995" cy="8830586"/>
          </a:xfrm>
          <a:prstGeom prst="roundRect">
            <a:avLst>
              <a:gd name="adj" fmla="val 1509"/>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8" name="TextBox 37">
            <a:extLst>
              <a:ext uri="{FF2B5EF4-FFF2-40B4-BE49-F238E27FC236}">
                <a16:creationId xmlns:a16="http://schemas.microsoft.com/office/drawing/2014/main" id="{0EFA83DE-E584-54E9-B9F5-C82770B1C448}"/>
              </a:ext>
            </a:extLst>
          </p:cNvPr>
          <p:cNvSpPr txBox="1"/>
          <p:nvPr/>
        </p:nvSpPr>
        <p:spPr>
          <a:xfrm>
            <a:off x="2887663" y="879815"/>
            <a:ext cx="482600" cy="369332"/>
          </a:xfrm>
          <a:prstGeom prst="rect">
            <a:avLst/>
          </a:prstGeom>
          <a:noFill/>
        </p:spPr>
        <p:txBody>
          <a:bodyPr wrap="square" rtlCol="0">
            <a:spAutoFit/>
          </a:bodyPr>
          <a:lstStyle/>
          <a:p>
            <a:r>
              <a:rPr lang="en-DE" b="1" dirty="0"/>
              <a:t>A</a:t>
            </a:r>
          </a:p>
        </p:txBody>
      </p:sp>
      <p:sp>
        <p:nvSpPr>
          <p:cNvPr id="39" name="TextBox 38">
            <a:extLst>
              <a:ext uri="{FF2B5EF4-FFF2-40B4-BE49-F238E27FC236}">
                <a16:creationId xmlns:a16="http://schemas.microsoft.com/office/drawing/2014/main" id="{A66C9767-D432-5DB0-B0EF-007D3BED0859}"/>
              </a:ext>
            </a:extLst>
          </p:cNvPr>
          <p:cNvSpPr txBox="1"/>
          <p:nvPr/>
        </p:nvSpPr>
        <p:spPr>
          <a:xfrm>
            <a:off x="2887663" y="4718266"/>
            <a:ext cx="482600" cy="369332"/>
          </a:xfrm>
          <a:prstGeom prst="rect">
            <a:avLst/>
          </a:prstGeom>
          <a:noFill/>
        </p:spPr>
        <p:txBody>
          <a:bodyPr wrap="square" rtlCol="0">
            <a:spAutoFit/>
          </a:bodyPr>
          <a:lstStyle/>
          <a:p>
            <a:r>
              <a:rPr lang="en-DE" b="1" dirty="0"/>
              <a:t>B</a:t>
            </a:r>
          </a:p>
        </p:txBody>
      </p:sp>
      <p:sp>
        <p:nvSpPr>
          <p:cNvPr id="40" name="TextBox 39">
            <a:extLst>
              <a:ext uri="{FF2B5EF4-FFF2-40B4-BE49-F238E27FC236}">
                <a16:creationId xmlns:a16="http://schemas.microsoft.com/office/drawing/2014/main" id="{5E76F516-4E08-0670-922C-6CD3A5FEF3A3}"/>
              </a:ext>
            </a:extLst>
          </p:cNvPr>
          <p:cNvSpPr txBox="1"/>
          <p:nvPr/>
        </p:nvSpPr>
        <p:spPr>
          <a:xfrm>
            <a:off x="9237405" y="4718266"/>
            <a:ext cx="482600" cy="369332"/>
          </a:xfrm>
          <a:prstGeom prst="rect">
            <a:avLst/>
          </a:prstGeom>
          <a:noFill/>
        </p:spPr>
        <p:txBody>
          <a:bodyPr wrap="square" rtlCol="0">
            <a:spAutoFit/>
          </a:bodyPr>
          <a:lstStyle/>
          <a:p>
            <a:r>
              <a:rPr lang="en-DE" b="1" dirty="0"/>
              <a:t>C</a:t>
            </a:r>
          </a:p>
        </p:txBody>
      </p:sp>
      <p:sp>
        <p:nvSpPr>
          <p:cNvPr id="42" name="TextBox 41">
            <a:extLst>
              <a:ext uri="{FF2B5EF4-FFF2-40B4-BE49-F238E27FC236}">
                <a16:creationId xmlns:a16="http://schemas.microsoft.com/office/drawing/2014/main" id="{FBC7D691-301D-E3D7-62E1-B535F2A03F3F}"/>
              </a:ext>
            </a:extLst>
          </p:cNvPr>
          <p:cNvSpPr txBox="1"/>
          <p:nvPr/>
        </p:nvSpPr>
        <p:spPr>
          <a:xfrm>
            <a:off x="13139033" y="1914121"/>
            <a:ext cx="1329267" cy="461665"/>
          </a:xfrm>
          <a:prstGeom prst="rect">
            <a:avLst/>
          </a:prstGeom>
          <a:noFill/>
        </p:spPr>
        <p:txBody>
          <a:bodyPr wrap="square" rtlCol="0">
            <a:spAutoFit/>
          </a:bodyPr>
          <a:lstStyle/>
          <a:p>
            <a:r>
              <a:rPr lang="en-DE" sz="1200" dirty="0"/>
              <a:t>Inclusion cutoff: July 17, 2025</a:t>
            </a:r>
          </a:p>
        </p:txBody>
      </p:sp>
      <p:cxnSp>
        <p:nvCxnSpPr>
          <p:cNvPr id="43" name="Straight Arrow Connector 42">
            <a:extLst>
              <a:ext uri="{FF2B5EF4-FFF2-40B4-BE49-F238E27FC236}">
                <a16:creationId xmlns:a16="http://schemas.microsoft.com/office/drawing/2014/main" id="{4DDFFB0C-2BC2-CA09-1E13-938900547F9B}"/>
              </a:ext>
            </a:extLst>
          </p:cNvPr>
          <p:cNvCxnSpPr>
            <a:cxnSpLocks/>
            <a:stCxn id="42" idx="1"/>
          </p:cNvCxnSpPr>
          <p:nvPr/>
        </p:nvCxnSpPr>
        <p:spPr>
          <a:xfrm flipH="1">
            <a:off x="12800979" y="2144954"/>
            <a:ext cx="338054" cy="1690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0A78B012-AEF7-B58A-B005-610458D64CA7}"/>
              </a:ext>
            </a:extLst>
          </p:cNvPr>
          <p:cNvSpPr txBox="1"/>
          <p:nvPr/>
        </p:nvSpPr>
        <p:spPr>
          <a:xfrm>
            <a:off x="2871018" y="13704528"/>
            <a:ext cx="11759382" cy="2585323"/>
          </a:xfrm>
          <a:prstGeom prst="rect">
            <a:avLst/>
          </a:prstGeom>
          <a:noFill/>
        </p:spPr>
        <p:txBody>
          <a:bodyPr wrap="square">
            <a:spAutoFit/>
          </a:bodyPr>
          <a:lstStyle/>
          <a:p>
            <a:r>
              <a:rPr lang="en-GB" b="1" dirty="0"/>
              <a:t>Figure 2 | Methodological characteristics of the 36 client-facing application studies involving human participants.</a:t>
            </a:r>
            <a:r>
              <a:rPr lang="en-GB" dirty="0"/>
              <a:t> </a:t>
            </a:r>
            <a:r>
              <a:rPr lang="en-GB" b="1" dirty="0"/>
              <a:t>A</a:t>
            </a:r>
            <a:r>
              <a:rPr lang="en-GB" dirty="0"/>
              <a:t>, The flowchart illustrates the proportion of articles on client-facing applications that included human participants (36 of 114). The stacked bar chart shows the annual publication numbers from 2022 to 2025, distinguishing between studies with human participants (red) and without (grey). The data for 2025 reflects a partial year due to an inclusion cutoff of July 17, 2025. </a:t>
            </a:r>
            <a:r>
              <a:rPr lang="en-GB" b="1" dirty="0"/>
              <a:t>B</a:t>
            </a:r>
            <a:r>
              <a:rPr lang="en-GB" dirty="0"/>
              <a:t>, Bar charts showing the distribution of the 36 studies across different sample size categories (top) and by the type of inclusion criteria used (bottom). </a:t>
            </a:r>
            <a:r>
              <a:rPr lang="en-GB" b="1" dirty="0"/>
              <a:t>C</a:t>
            </a:r>
            <a:r>
              <a:rPr lang="en-GB" dirty="0"/>
              <a:t>, Bar charts classifying </a:t>
            </a:r>
            <a:r>
              <a:rPr lang="en-GB"/>
              <a:t>the 36 </a:t>
            </a:r>
            <a:r>
              <a:rPr lang="en-GB" dirty="0"/>
              <a:t>studies by their primary intervention type, the presence of a control group, and the nature of the primary clinical outcome. </a:t>
            </a:r>
            <a:r>
              <a:rPr lang="en-GB" i="1" dirty="0"/>
              <a:t>Abbreviations: CBT, Cognitive </a:t>
            </a:r>
            <a:r>
              <a:rPr lang="en-GB" i="1" dirty="0" err="1"/>
              <a:t>Behavioral</a:t>
            </a:r>
            <a:r>
              <a:rPr lang="en-GB" i="1" dirty="0"/>
              <a:t> Therapy; ICD/DSM, International Classification of Diseases/Diagnostic and Statistical Manual of Mental Disorders.</a:t>
            </a:r>
            <a:endParaRPr lang="en-DE" dirty="0"/>
          </a:p>
        </p:txBody>
      </p:sp>
      <p:sp>
        <p:nvSpPr>
          <p:cNvPr id="4" name="TextBox 3">
            <a:extLst>
              <a:ext uri="{FF2B5EF4-FFF2-40B4-BE49-F238E27FC236}">
                <a16:creationId xmlns:a16="http://schemas.microsoft.com/office/drawing/2014/main" id="{575C1CB4-2116-4E85-40B0-6E65C5202DAD}"/>
              </a:ext>
            </a:extLst>
          </p:cNvPr>
          <p:cNvSpPr txBox="1"/>
          <p:nvPr/>
        </p:nvSpPr>
        <p:spPr>
          <a:xfrm>
            <a:off x="-75970" y="1807805"/>
            <a:ext cx="2621192" cy="2185214"/>
          </a:xfrm>
          <a:prstGeom prst="rect">
            <a:avLst/>
          </a:prstGeom>
          <a:noFill/>
        </p:spPr>
        <p:txBody>
          <a:bodyPr wrap="square" rtlCol="0">
            <a:spAutoFit/>
          </a:bodyPr>
          <a:lstStyle/>
          <a:p>
            <a:pPr algn="ctr"/>
            <a:r>
              <a:rPr lang="en-DE" sz="6000" b="1" dirty="0">
                <a:solidFill>
                  <a:schemeClr val="accent1"/>
                </a:solidFill>
                <a:latin typeface="Roboto" panose="02000000000000000000" pitchFamily="2" charset="0"/>
                <a:ea typeface="Roboto" panose="02000000000000000000" pitchFamily="2" charset="0"/>
                <a:cs typeface="Roboto" panose="02000000000000000000" pitchFamily="2" charset="0"/>
              </a:rPr>
              <a:t>35 %</a:t>
            </a:r>
          </a:p>
          <a:p>
            <a:pPr algn="ctr"/>
            <a:r>
              <a:rPr lang="en-GB" sz="1100" dirty="0">
                <a:latin typeface="Roboto" panose="02000000000000000000" pitchFamily="2" charset="0"/>
                <a:ea typeface="Roboto" panose="02000000000000000000" pitchFamily="2" charset="0"/>
                <a:cs typeface="Roboto" panose="02000000000000000000" pitchFamily="2" charset="0"/>
              </a:rPr>
              <a:t>of studies </a:t>
            </a:r>
            <a:r>
              <a:rPr lang="en-DE" sz="1100" dirty="0">
                <a:latin typeface="Roboto" panose="02000000000000000000" pitchFamily="2" charset="0"/>
                <a:ea typeface="Roboto" panose="02000000000000000000" pitchFamily="2" charset="0"/>
                <a:cs typeface="Roboto" panose="02000000000000000000" pitchFamily="2" charset="0"/>
              </a:rPr>
              <a:t>(n = 17) </a:t>
            </a:r>
            <a:r>
              <a:rPr lang="en-GB" sz="1100" dirty="0" err="1">
                <a:latin typeface="Roboto" panose="02000000000000000000" pitchFamily="2" charset="0"/>
                <a:ea typeface="Roboto" panose="02000000000000000000" pitchFamily="2" charset="0"/>
                <a:cs typeface="Roboto" panose="02000000000000000000" pitchFamily="2" charset="0"/>
              </a:rPr>
              <a:t>i</a:t>
            </a:r>
            <a:r>
              <a:rPr lang="en-DE" sz="1100" dirty="0">
                <a:latin typeface="Roboto" panose="02000000000000000000" pitchFamily="2" charset="0"/>
                <a:ea typeface="Roboto" panose="02000000000000000000" pitchFamily="2" charset="0"/>
                <a:cs typeface="Roboto" panose="02000000000000000000" pitchFamily="2" charset="0"/>
              </a:rPr>
              <a:t>nclude </a:t>
            </a:r>
            <a:r>
              <a:rPr lang="en-DE" sz="1100" b="1" dirty="0">
                <a:latin typeface="Roboto" panose="02000000000000000000" pitchFamily="2" charset="0"/>
                <a:ea typeface="Roboto" panose="02000000000000000000" pitchFamily="2" charset="0"/>
                <a:cs typeface="Roboto" panose="02000000000000000000" pitchFamily="2" charset="0"/>
              </a:rPr>
              <a:t>human participants</a:t>
            </a:r>
          </a:p>
          <a:p>
            <a:pPr algn="ctr">
              <a:spcBef>
                <a:spcPts val="1200"/>
              </a:spcBef>
            </a:pPr>
            <a:r>
              <a:rPr lang="en-DE" sz="1100" dirty="0">
                <a:latin typeface="Roboto" panose="02000000000000000000" pitchFamily="2" charset="0"/>
                <a:ea typeface="Roboto" panose="02000000000000000000" pitchFamily="2" charset="0"/>
                <a:cs typeface="Roboto" panose="02000000000000000000" pitchFamily="2" charset="0"/>
              </a:rPr>
              <a:t>The other </a:t>
            </a:r>
            <a:r>
              <a:rPr lang="en-DE" sz="1100" b="1" dirty="0">
                <a:latin typeface="Roboto" panose="02000000000000000000" pitchFamily="2" charset="0"/>
                <a:ea typeface="Roboto" panose="02000000000000000000" pitchFamily="2" charset="0"/>
                <a:cs typeface="Roboto" panose="02000000000000000000" pitchFamily="2" charset="0"/>
              </a:rPr>
              <a:t>65 %</a:t>
            </a:r>
            <a:r>
              <a:rPr lang="en-DE" sz="1100" dirty="0">
                <a:latin typeface="Roboto" panose="02000000000000000000" pitchFamily="2" charset="0"/>
                <a:ea typeface="Roboto" panose="02000000000000000000" pitchFamily="2" charset="0"/>
                <a:cs typeface="Roboto" panose="02000000000000000000" pitchFamily="2" charset="0"/>
              </a:rPr>
              <a:t> develop and evaluate applications using existing observational datasets (e.g. therapy transcripts)</a:t>
            </a:r>
          </a:p>
        </p:txBody>
      </p:sp>
    </p:spTree>
    <p:extLst>
      <p:ext uri="{BB962C8B-B14F-4D97-AF65-F5344CB8AC3E}">
        <p14:creationId xmlns:p14="http://schemas.microsoft.com/office/powerpoint/2010/main" val="4219004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E2571AB-B1F7-642C-5428-509CFB359F1E}"/>
              </a:ext>
            </a:extLst>
          </p:cNvPr>
          <p:cNvGraphicFramePr>
            <a:graphicFrameLocks noGrp="1"/>
          </p:cNvGraphicFramePr>
          <p:nvPr>
            <p:extLst>
              <p:ext uri="{D42A27DB-BD31-4B8C-83A1-F6EECF244321}">
                <p14:modId xmlns:p14="http://schemas.microsoft.com/office/powerpoint/2010/main" val="1650498392"/>
              </p:ext>
            </p:extLst>
          </p:nvPr>
        </p:nvGraphicFramePr>
        <p:xfrm>
          <a:off x="3398765" y="3826063"/>
          <a:ext cx="11751182" cy="5220663"/>
        </p:xfrm>
        <a:graphic>
          <a:graphicData uri="http://schemas.openxmlformats.org/drawingml/2006/table">
            <a:tbl>
              <a:tblPr/>
              <a:tblGrid>
                <a:gridCol w="1643654">
                  <a:extLst>
                    <a:ext uri="{9D8B030D-6E8A-4147-A177-3AD203B41FA5}">
                      <a16:colId xmlns:a16="http://schemas.microsoft.com/office/drawing/2014/main" val="2169495296"/>
                    </a:ext>
                  </a:extLst>
                </a:gridCol>
                <a:gridCol w="1662546">
                  <a:extLst>
                    <a:ext uri="{9D8B030D-6E8A-4147-A177-3AD203B41FA5}">
                      <a16:colId xmlns:a16="http://schemas.microsoft.com/office/drawing/2014/main" val="3891031233"/>
                    </a:ext>
                  </a:extLst>
                </a:gridCol>
                <a:gridCol w="1681439">
                  <a:extLst>
                    <a:ext uri="{9D8B030D-6E8A-4147-A177-3AD203B41FA5}">
                      <a16:colId xmlns:a16="http://schemas.microsoft.com/office/drawing/2014/main" val="3210364637"/>
                    </a:ext>
                  </a:extLst>
                </a:gridCol>
                <a:gridCol w="1719225">
                  <a:extLst>
                    <a:ext uri="{9D8B030D-6E8A-4147-A177-3AD203B41FA5}">
                      <a16:colId xmlns:a16="http://schemas.microsoft.com/office/drawing/2014/main" val="3528249962"/>
                    </a:ext>
                  </a:extLst>
                </a:gridCol>
                <a:gridCol w="1719225">
                  <a:extLst>
                    <a:ext uri="{9D8B030D-6E8A-4147-A177-3AD203B41FA5}">
                      <a16:colId xmlns:a16="http://schemas.microsoft.com/office/drawing/2014/main" val="4150082920"/>
                    </a:ext>
                  </a:extLst>
                </a:gridCol>
                <a:gridCol w="1681439">
                  <a:extLst>
                    <a:ext uri="{9D8B030D-6E8A-4147-A177-3AD203B41FA5}">
                      <a16:colId xmlns:a16="http://schemas.microsoft.com/office/drawing/2014/main" val="931908812"/>
                    </a:ext>
                  </a:extLst>
                </a:gridCol>
                <a:gridCol w="1643654">
                  <a:extLst>
                    <a:ext uri="{9D8B030D-6E8A-4147-A177-3AD203B41FA5}">
                      <a16:colId xmlns:a16="http://schemas.microsoft.com/office/drawing/2014/main" val="4020937090"/>
                    </a:ext>
                  </a:extLst>
                </a:gridCol>
              </a:tblGrid>
              <a:tr h="356846">
                <a:tc>
                  <a:txBody>
                    <a:bodyPr/>
                    <a:lstStyle/>
                    <a:p>
                      <a:pPr algn="ctr" rtl="0" fontAlgn="ctr">
                        <a:buNone/>
                      </a:pPr>
                      <a:r>
                        <a:rPr lang="en-GB" sz="900" b="1" i="0" u="none" strike="noStrike" dirty="0">
                          <a:solidFill>
                            <a:srgbClr val="000000"/>
                          </a:solidFill>
                          <a:effectLst/>
                          <a:latin typeface="Arial" panose="020B0604020202020204" pitchFamily="34" charset="0"/>
                        </a:rPr>
                        <a:t>Study</a:t>
                      </a:r>
                      <a:endParaRPr lang="en-GB" dirty="0">
                        <a:effectLst/>
                      </a:endParaRPr>
                    </a:p>
                  </a:txBody>
                  <a:tcPr marL="88900" marR="889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ctr">
                        <a:buNone/>
                      </a:pPr>
                      <a:r>
                        <a:rPr lang="en-GB" sz="900" b="1" i="0" u="none" strike="noStrike">
                          <a:solidFill>
                            <a:srgbClr val="000000"/>
                          </a:solidFill>
                          <a:effectLst/>
                          <a:latin typeface="Arial" panose="020B0604020202020204" pitchFamily="34" charset="0"/>
                        </a:rPr>
                        <a:t>Population</a:t>
                      </a:r>
                      <a:endParaRPr lang="en-GB">
                        <a:effectLst/>
                      </a:endParaRPr>
                    </a:p>
                  </a:txBody>
                  <a:tcPr marL="88900" marR="889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ctr">
                        <a:buNone/>
                      </a:pPr>
                      <a:r>
                        <a:rPr lang="en-GB" sz="900" b="1" i="0" u="none" strike="noStrike">
                          <a:solidFill>
                            <a:srgbClr val="000000"/>
                          </a:solidFill>
                          <a:effectLst/>
                          <a:latin typeface="Arial" panose="020B0604020202020204" pitchFamily="34" charset="0"/>
                        </a:rPr>
                        <a:t>Intervention</a:t>
                      </a:r>
                      <a:endParaRPr lang="en-GB">
                        <a:effectLst/>
                      </a:endParaRPr>
                    </a:p>
                  </a:txBody>
                  <a:tcPr marL="88900" marR="889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ctr">
                        <a:buNone/>
                      </a:pPr>
                      <a:r>
                        <a:rPr lang="en-GB" sz="900" b="1" i="0" u="none" strike="noStrike">
                          <a:solidFill>
                            <a:srgbClr val="000000"/>
                          </a:solidFill>
                          <a:effectLst/>
                          <a:latin typeface="Arial" panose="020B0604020202020204" pitchFamily="34" charset="0"/>
                        </a:rPr>
                        <a:t>Control Condition</a:t>
                      </a:r>
                      <a:endParaRPr lang="en-GB">
                        <a:effectLst/>
                      </a:endParaRPr>
                    </a:p>
                  </a:txBody>
                  <a:tcPr marL="88900" marR="889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ctr">
                        <a:buNone/>
                      </a:pPr>
                      <a:r>
                        <a:rPr lang="en-GB" sz="900" b="1" i="0" u="none" strike="noStrike">
                          <a:solidFill>
                            <a:srgbClr val="000000"/>
                          </a:solidFill>
                          <a:effectLst/>
                          <a:latin typeface="Arial" panose="020B0604020202020204" pitchFamily="34" charset="0"/>
                        </a:rPr>
                        <a:t>Group Allocation</a:t>
                      </a:r>
                      <a:endParaRPr lang="en-GB">
                        <a:effectLst/>
                      </a:endParaRPr>
                    </a:p>
                  </a:txBody>
                  <a:tcPr marL="88900" marR="889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ctr">
                        <a:buNone/>
                      </a:pPr>
                      <a:r>
                        <a:rPr lang="en-GB" sz="900" b="1" i="0" u="none" strike="noStrike">
                          <a:solidFill>
                            <a:srgbClr val="000000"/>
                          </a:solidFill>
                          <a:effectLst/>
                          <a:latin typeface="Arial" panose="020B0604020202020204" pitchFamily="34" charset="0"/>
                        </a:rPr>
                        <a:t>Primary Outcome(s)</a:t>
                      </a:r>
                      <a:endParaRPr lang="en-GB">
                        <a:effectLst/>
                      </a:endParaRPr>
                    </a:p>
                  </a:txBody>
                  <a:tcPr marL="88900" marR="889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ctr">
                        <a:buNone/>
                      </a:pPr>
                      <a:r>
                        <a:rPr lang="en-GB" sz="900" b="1" i="0" u="none" strike="noStrike">
                          <a:solidFill>
                            <a:srgbClr val="000000"/>
                          </a:solidFill>
                          <a:effectLst/>
                          <a:latin typeface="Arial" panose="020B0604020202020204" pitchFamily="34" charset="0"/>
                        </a:rPr>
                        <a:t>Between-group Effect Size (d)</a:t>
                      </a:r>
                      <a:endParaRPr lang="en-GB">
                        <a:effectLst/>
                      </a:endParaRPr>
                    </a:p>
                  </a:txBody>
                  <a:tcPr marL="88900" marR="889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6516707"/>
                  </a:ext>
                </a:extLst>
              </a:tr>
              <a:tr h="877648">
                <a:tc>
                  <a:txBody>
                    <a:bodyPr/>
                    <a:lstStyle/>
                    <a:p>
                      <a:pPr rtl="0" fontAlgn="t">
                        <a:buNone/>
                      </a:pPr>
                      <a:r>
                        <a:rPr lang="en-GB" sz="900" b="0" i="0" u="none" strike="noStrike">
                          <a:solidFill>
                            <a:srgbClr val="000000"/>
                          </a:solidFill>
                          <a:effectLst/>
                          <a:latin typeface="Arial" panose="020B0604020202020204" pitchFamily="34" charset="0"/>
                        </a:rPr>
                        <a:t>Heinz et al. (2025)</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Adults with clinically significant symptoms of MDD, GAD, or at high risk for eating disorders (n = 210)</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4-week intervention with a fine-tuned generative AI chatbot (Therabot)</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Waitlist control</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Randomized</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Change in depression (PHQ-9) and anxiety (GAD-Q-IV) symptoms, and weight concerns (WCS)</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DE" sz="900" b="0" i="0" u="none" strike="noStrike">
                          <a:solidFill>
                            <a:srgbClr val="000000"/>
                          </a:solidFill>
                          <a:effectLst/>
                          <a:latin typeface="Arial" panose="020B0604020202020204" pitchFamily="34" charset="0"/>
                        </a:rPr>
                        <a:t>0.63-0.90</a:t>
                      </a:r>
                      <a:endParaRPr lang="en-DE">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2465083"/>
                  </a:ext>
                </a:extLst>
              </a:tr>
              <a:tr h="1007849">
                <a:tc>
                  <a:txBody>
                    <a:bodyPr/>
                    <a:lstStyle/>
                    <a:p>
                      <a:pPr rtl="0" fontAlgn="t">
                        <a:buNone/>
                      </a:pPr>
                      <a:r>
                        <a:rPr lang="en-GB" sz="900" b="0" i="0" u="none" strike="noStrike">
                          <a:solidFill>
                            <a:srgbClr val="000000"/>
                          </a:solidFill>
                          <a:effectLst/>
                          <a:latin typeface="Arial" panose="020B0604020202020204" pitchFamily="34" charset="0"/>
                        </a:rPr>
                        <a:t>Habicht et al. (2025)</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Adult patients in UK's NHS services (n = 244)</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GPT-4-based therapy support tool (Limbic Care) augmenting human-led 6-session group CBT with between-session exercises</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Standard care (static CBT worksheets) within the same group-CBT context</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Self-selection by participants</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Change in depression (PHQ-9) and anxiety (GAD-7) symptoms, measured as treatment success rates</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DE" sz="900" b="0" i="0" u="none" strike="noStrike">
                          <a:solidFill>
                            <a:srgbClr val="000000"/>
                          </a:solidFill>
                          <a:effectLst/>
                          <a:latin typeface="Arial" panose="020B0604020202020204" pitchFamily="34" charset="0"/>
                        </a:rPr>
                        <a:t>≈0.44–0.57*</a:t>
                      </a:r>
                      <a:endParaRPr lang="en-DE">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2804596"/>
                  </a:ext>
                </a:extLst>
              </a:tr>
              <a:tr h="641358">
                <a:tc>
                  <a:txBody>
                    <a:bodyPr/>
                    <a:lstStyle/>
                    <a:p>
                      <a:pPr rtl="0" fontAlgn="t">
                        <a:buNone/>
                      </a:pPr>
                      <a:r>
                        <a:rPr lang="en-GB" sz="900" b="0" i="0" u="none" strike="noStrike">
                          <a:solidFill>
                            <a:srgbClr val="000000"/>
                          </a:solidFill>
                          <a:effectLst/>
                          <a:latin typeface="Arial" panose="020B0604020202020204" pitchFamily="34" charset="0"/>
                        </a:rPr>
                        <a:t>Kolenik et al. (2024)</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Non-clinical convenience sample (n = 42)</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Single session with a self-developed GPT-3-based chatbot</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Single session with rule-based chatbot (Woebot)</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Randomized</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dirty="0">
                          <a:solidFill>
                            <a:srgbClr val="000000"/>
                          </a:solidFill>
                          <a:effectLst/>
                          <a:latin typeface="Arial" panose="020B0604020202020204" pitchFamily="34" charset="0"/>
                        </a:rPr>
                        <a:t>Change in stress, anxiety, and depression symptoms (SISQs)</a:t>
                      </a:r>
                      <a:endParaRPr lang="en-GB" dirty="0">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Not reported</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4348829"/>
                  </a:ext>
                </a:extLst>
              </a:tr>
              <a:tr h="511158">
                <a:tc>
                  <a:txBody>
                    <a:bodyPr/>
                    <a:lstStyle/>
                    <a:p>
                      <a:pPr rtl="0" fontAlgn="t">
                        <a:buNone/>
                      </a:pPr>
                      <a:r>
                        <a:rPr lang="en-GB" sz="900" b="0" i="0" u="none" strike="noStrike">
                          <a:solidFill>
                            <a:srgbClr val="000000"/>
                          </a:solidFill>
                          <a:effectLst/>
                          <a:latin typeface="Arial" panose="020B0604020202020204" pitchFamily="34" charset="0"/>
                        </a:rPr>
                        <a:t>Melo et al. (2024)</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Psychiatric inpatients admitted for suicidal ideation (n = 12)</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3-6 guided sessions with ChatGPT (version GPT-3.5)</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Standard inpatient psychiatric care (treatment as usual)</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Randomized</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Change in quality of life (WHOQOL-BREF)</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DE" sz="900" b="0" i="0" u="none" strike="noStrike">
                          <a:solidFill>
                            <a:srgbClr val="000000"/>
                          </a:solidFill>
                          <a:effectLst/>
                          <a:latin typeface="Arial" panose="020B0604020202020204" pitchFamily="34" charset="0"/>
                        </a:rPr>
                        <a:t>≈1.56*</a:t>
                      </a:r>
                      <a:endParaRPr lang="en-DE">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7296882"/>
                  </a:ext>
                </a:extLst>
              </a:tr>
              <a:tr h="1007849">
                <a:tc>
                  <a:txBody>
                    <a:bodyPr/>
                    <a:lstStyle/>
                    <a:p>
                      <a:pPr rtl="0" fontAlgn="t">
                        <a:buNone/>
                      </a:pPr>
                      <a:r>
                        <a:rPr lang="en-GB" sz="900" b="0" i="0" u="none" strike="noStrike">
                          <a:solidFill>
                            <a:srgbClr val="000000"/>
                          </a:solidFill>
                          <a:effectLst/>
                          <a:latin typeface="Arial" panose="020B0604020202020204" pitchFamily="34" charset="0"/>
                        </a:rPr>
                        <a:t>Liu et al. (2024)</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Non-clinical, China-based online participants (n = 48)</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2-week intervention; GPT-3.5 provided real-time feedback on exercises within a rule-based positive psychology intervention chatbot</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Active control; same rule-based chatbot intervention but without real-time feedback</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Randomized</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Change in depression (PHQ-9) and anxiety (GAD-7) symptoms, and life satisfaction (SWLS)</a:t>
                      </a:r>
                      <a:endParaRPr lang="en-GB">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DE" sz="900" b="0" i="0" u="none" strike="noStrike">
                          <a:solidFill>
                            <a:srgbClr val="000000"/>
                          </a:solidFill>
                          <a:effectLst/>
                          <a:latin typeface="Arial" panose="020B0604020202020204" pitchFamily="34" charset="0"/>
                        </a:rPr>
                        <a:t>0.01-0.59</a:t>
                      </a:r>
                      <a:endParaRPr lang="en-DE">
                        <a:effectLst/>
                      </a:endParaRPr>
                    </a:p>
                  </a:txBody>
                  <a:tcPr marL="88900" marR="88900" marT="50800" marB="508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2098142"/>
                  </a:ext>
                </a:extLst>
              </a:tr>
              <a:tr h="771559">
                <a:tc>
                  <a:txBody>
                    <a:bodyPr/>
                    <a:lstStyle/>
                    <a:p>
                      <a:pPr rtl="0" fontAlgn="t">
                        <a:buNone/>
                      </a:pPr>
                      <a:r>
                        <a:rPr lang="en-GB" sz="900" b="0" i="0" u="none" strike="noStrike">
                          <a:solidFill>
                            <a:srgbClr val="000000"/>
                          </a:solidFill>
                          <a:effectLst/>
                          <a:latin typeface="Arial" panose="020B0604020202020204" pitchFamily="34" charset="0"/>
                        </a:rPr>
                        <a:t>Nazarova (2023)</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Non-clinical university students</a:t>
                      </a:r>
                      <a:endParaRPr lang="en-GB">
                        <a:effectLst/>
                      </a:endParaRPr>
                    </a:p>
                    <a:p>
                      <a:pPr rtl="0" fontAlgn="t">
                        <a:buNone/>
                      </a:pPr>
                      <a:r>
                        <a:rPr lang="en-GB" sz="900" b="0" i="0" u="none" strike="noStrike">
                          <a:solidFill>
                            <a:srgbClr val="000000"/>
                          </a:solidFill>
                          <a:effectLst/>
                          <a:latin typeface="Arial" panose="020B0604020202020204" pitchFamily="34" charset="0"/>
                        </a:rPr>
                        <a:t>(n = 68)</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8-week intervention with a GPT-3 based CBT chatbot (TeaBot)</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No intervention; access to a psychoeducation manual only</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Randomized</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a:solidFill>
                            <a:srgbClr val="000000"/>
                          </a:solidFill>
                          <a:effectLst/>
                          <a:latin typeface="Arial" panose="020B0604020202020204" pitchFamily="34" charset="0"/>
                        </a:rPr>
                        <a:t>Change in cognitive distortions and psychological flexibility (AAQ + CDS sum score)</a:t>
                      </a:r>
                      <a:endParaRPr lang="en-GB">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GB" sz="900" b="0" i="0" u="none" strike="noStrike" dirty="0">
                          <a:solidFill>
                            <a:srgbClr val="000000"/>
                          </a:solidFill>
                          <a:effectLst/>
                          <a:latin typeface="Arial" panose="020B0604020202020204" pitchFamily="34" charset="0"/>
                        </a:rPr>
                        <a:t>Not reported</a:t>
                      </a:r>
                      <a:endParaRPr lang="en-GB" dirty="0">
                        <a:effectLst/>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2171556"/>
                  </a:ext>
                </a:extLst>
              </a:tr>
            </a:tbl>
          </a:graphicData>
        </a:graphic>
      </p:graphicFrame>
      <p:sp>
        <p:nvSpPr>
          <p:cNvPr id="5" name="Rectangle 1">
            <a:extLst>
              <a:ext uri="{FF2B5EF4-FFF2-40B4-BE49-F238E27FC236}">
                <a16:creationId xmlns:a16="http://schemas.microsoft.com/office/drawing/2014/main" id="{4EA52658-E244-CCA6-2E6D-FC501FABCA17}"/>
              </a:ext>
            </a:extLst>
          </p:cNvPr>
          <p:cNvSpPr>
            <a:spLocks noChangeArrowheads="1"/>
          </p:cNvSpPr>
          <p:nvPr/>
        </p:nvSpPr>
        <p:spPr bwMode="auto">
          <a:xfrm>
            <a:off x="6037263" y="5712389"/>
            <a:ext cx="271796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DE" altLang="en-DE" sz="1800" b="0" i="0" u="none" strike="noStrike" cap="none" normalizeH="0" baseline="0">
                <a:ln>
                  <a:noFill/>
                </a:ln>
                <a:solidFill>
                  <a:schemeClr val="tx1"/>
                </a:solidFill>
                <a:effectLst/>
                <a:latin typeface="Arial" panose="020B0604020202020204" pitchFamily="34" charset="0"/>
              </a:rPr>
            </a:br>
            <a:endParaRPr kumimoji="0" lang="en-DE" altLang="en-DE"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4C1F1C62-523A-5108-194D-3C0840A5B43C}"/>
              </a:ext>
            </a:extLst>
          </p:cNvPr>
          <p:cNvSpPr txBox="1"/>
          <p:nvPr/>
        </p:nvSpPr>
        <p:spPr>
          <a:xfrm>
            <a:off x="3398765" y="9241363"/>
            <a:ext cx="11751182" cy="3970318"/>
          </a:xfrm>
          <a:prstGeom prst="rect">
            <a:avLst/>
          </a:prstGeom>
          <a:noFill/>
        </p:spPr>
        <p:txBody>
          <a:bodyPr wrap="square">
            <a:spAutoFit/>
          </a:bodyPr>
          <a:lstStyle/>
          <a:p>
            <a:r>
              <a:rPr lang="en-GB" b="1" dirty="0"/>
              <a:t>Table 1 | Overview of controlled clinical studies on client-facing LLM applications.</a:t>
            </a:r>
            <a:r>
              <a:rPr lang="en-GB" dirty="0"/>
              <a:t> The table summarizes studies included in this review, selected based on four criteria: (1) they evaluated a client-facing application involving human participants, (2) they included a total sample size of n &gt; 10, (3) they included a control or comparison group, and (4) they reported outcomes using validated clinical symptom or function scales. For each study, the population, intervention, control condition, group allocation method, primary outcomes, and the effect size (Cohen's </a:t>
            </a:r>
            <a:r>
              <a:rPr lang="en-GB" i="1" dirty="0"/>
              <a:t>d</a:t>
            </a:r>
            <a:r>
              <a:rPr lang="en-GB" dirty="0"/>
              <a:t>) are presented. The effect sizes are all between-group, i.e. rate of improvement in the intervention group compared to rate of improvement in the control group.</a:t>
            </a:r>
          </a:p>
          <a:p>
            <a:pPr>
              <a:buNone/>
            </a:pPr>
            <a:r>
              <a:rPr lang="en-GB" i="1" dirty="0"/>
              <a:t>*These effect sizes are approximated based on reported statistics (e.g., converted from Odds Ratios) as Cohen's d was not directly provided in the text. </a:t>
            </a:r>
            <a:r>
              <a:rPr lang="en-GB" b="1" i="1" dirty="0"/>
              <a:t>Abbreviations</a:t>
            </a:r>
            <a:r>
              <a:rPr lang="en-GB" i="1" dirty="0"/>
              <a:t>: AAQ, Acceptance and Action Questionnaire; CBT, Cognitive </a:t>
            </a:r>
            <a:r>
              <a:rPr lang="en-GB" i="1" dirty="0" err="1"/>
              <a:t>Behavioral</a:t>
            </a:r>
            <a:r>
              <a:rPr lang="en-GB" i="1" dirty="0"/>
              <a:t> Therapy; CDS, Cognitive Distortions Scale; CHR-FED, Clinically High Risk for Feeding and Eating Disorders; GAD, Generalized Anxiety Disorder; GAD-Q-IV, GAD Questionnaire; MDD, Major Depressive Disorder; NHS, National Health Service; PHQ-9, Patient Health Questionnaire-9; PPI, Positive Psychology Intervention; SISQs, Single Item Screening Questions; SWLS, Satisfaction With Life Scale; WCS, Weight Concerns Scale; WHOQOL-BREF, World Health Organization Quality of Life-Brief Version.</a:t>
            </a:r>
            <a:endParaRPr lang="en-GB" dirty="0"/>
          </a:p>
        </p:txBody>
      </p:sp>
      <p:sp>
        <p:nvSpPr>
          <p:cNvPr id="8" name="TextBox 7">
            <a:extLst>
              <a:ext uri="{FF2B5EF4-FFF2-40B4-BE49-F238E27FC236}">
                <a16:creationId xmlns:a16="http://schemas.microsoft.com/office/drawing/2014/main" id="{B9996C80-817C-5763-29E8-50C14F1BC794}"/>
              </a:ext>
            </a:extLst>
          </p:cNvPr>
          <p:cNvSpPr txBox="1"/>
          <p:nvPr/>
        </p:nvSpPr>
        <p:spPr>
          <a:xfrm>
            <a:off x="3463473" y="15344509"/>
            <a:ext cx="11621765" cy="1954381"/>
          </a:xfrm>
          <a:prstGeom prst="rect">
            <a:avLst/>
          </a:prstGeom>
          <a:noFill/>
        </p:spPr>
        <p:txBody>
          <a:bodyPr wrap="square" rtlCol="0">
            <a:spAutoFit/>
          </a:bodyPr>
          <a:lstStyle/>
          <a:p>
            <a:pPr marL="285750" indent="-285750">
              <a:buFont typeface="Arial" panose="020B0604020202020204" pitchFamily="34" charset="0"/>
              <a:buChar char="•"/>
            </a:pPr>
            <a:r>
              <a:rPr lang="en-GB" sz="1100" dirty="0"/>
              <a:t>Heinz, Michael V., et al. "Randomized trial of a generative AI chatbot for mental health treatment." </a:t>
            </a:r>
            <a:r>
              <a:rPr lang="en-GB" sz="1100" i="1" dirty="0" err="1"/>
              <a:t>Nejm</a:t>
            </a:r>
            <a:r>
              <a:rPr lang="en-GB" sz="1100" i="1" dirty="0"/>
              <a:t> Ai</a:t>
            </a:r>
            <a:r>
              <a:rPr lang="en-GB" sz="1100" dirty="0"/>
              <a:t> 2.4 (2025): AIoa2400802.</a:t>
            </a:r>
          </a:p>
          <a:p>
            <a:pPr marL="285750" indent="-285750">
              <a:buFont typeface="Arial" panose="020B0604020202020204" pitchFamily="34" charset="0"/>
              <a:buChar char="•"/>
            </a:pPr>
            <a:r>
              <a:rPr lang="en-GB" sz="1100" dirty="0"/>
              <a:t>Habicht, Johanna, et al. "Generative AI–enabled therapy support tool for improved clinical outcomes and patient engagement in group therapy: real-world observational study." </a:t>
            </a:r>
            <a:r>
              <a:rPr lang="en-GB" sz="1100" i="1" dirty="0"/>
              <a:t>Journal of medical Internet research</a:t>
            </a:r>
            <a:r>
              <a:rPr lang="en-GB" sz="1100" dirty="0"/>
              <a:t> 27 (2025): e60435.</a:t>
            </a:r>
          </a:p>
          <a:p>
            <a:pPr marL="285750" indent="-285750">
              <a:buFont typeface="Arial" panose="020B0604020202020204" pitchFamily="34" charset="0"/>
              <a:buChar char="•"/>
            </a:pPr>
            <a:r>
              <a:rPr lang="en-GB" sz="1100" dirty="0" err="1"/>
              <a:t>Kolenik</a:t>
            </a:r>
            <a:r>
              <a:rPr lang="en-GB" sz="1100" dirty="0"/>
              <a:t>, Tine, Günter </a:t>
            </a:r>
            <a:r>
              <a:rPr lang="en-GB" sz="1100" dirty="0" err="1"/>
              <a:t>Schiepek</a:t>
            </a:r>
            <a:r>
              <a:rPr lang="en-GB" sz="1100" dirty="0"/>
              <a:t>, and Matjaž Gams. "Computational psychotherapy system for mental health prediction and </a:t>
            </a:r>
            <a:r>
              <a:rPr lang="en-GB" sz="1100" dirty="0" err="1"/>
              <a:t>behavior</a:t>
            </a:r>
            <a:r>
              <a:rPr lang="en-GB" sz="1100" dirty="0"/>
              <a:t> change with a conversational agent." </a:t>
            </a:r>
            <a:r>
              <a:rPr lang="en-GB" sz="1100" i="1" dirty="0"/>
              <a:t>Neuropsychiatric Disease and Treatment</a:t>
            </a:r>
            <a:r>
              <a:rPr lang="en-GB" sz="1100" dirty="0"/>
              <a:t> (2024): 2465-2498.</a:t>
            </a:r>
          </a:p>
          <a:p>
            <a:pPr marL="285750" indent="-285750">
              <a:buFont typeface="Arial" panose="020B0604020202020204" pitchFamily="34" charset="0"/>
              <a:buChar char="•"/>
            </a:pPr>
            <a:r>
              <a:rPr lang="en-GB" sz="1100" dirty="0"/>
              <a:t>Melo, Antonio, Inês Silva, and Joana Lopes. "</a:t>
            </a:r>
            <a:r>
              <a:rPr lang="en-GB" sz="1100" dirty="0" err="1"/>
              <a:t>Chatgpt</a:t>
            </a:r>
            <a:r>
              <a:rPr lang="en-GB" sz="1100" dirty="0"/>
              <a:t>: A pilot study on a promising tool for mental health support in psychiatric inpatient care." </a:t>
            </a:r>
            <a:r>
              <a:rPr lang="en-GB" sz="1100" i="1" dirty="0"/>
              <a:t>International Journal of Psychiatric Trainees</a:t>
            </a:r>
            <a:r>
              <a:rPr lang="en-GB" sz="1100" dirty="0"/>
              <a:t> 2.2 (2024).</a:t>
            </a:r>
          </a:p>
          <a:p>
            <a:pPr marL="285750" indent="-285750">
              <a:buFont typeface="Arial" panose="020B0604020202020204" pitchFamily="34" charset="0"/>
              <a:buChar char="•"/>
            </a:pPr>
            <a:r>
              <a:rPr lang="en-GB" sz="1100" dirty="0"/>
              <a:t>Liu, Ivan, et al. "Investigating the key success factors of chatbot-based positive psychology intervention with retrieval-and generative pre-trained transformer (GPT)-based chatbots." </a:t>
            </a:r>
            <a:r>
              <a:rPr lang="en-GB" sz="1100" i="1" dirty="0"/>
              <a:t>International Journal of Human–Computer Interaction</a:t>
            </a:r>
            <a:r>
              <a:rPr lang="en-GB" sz="1100" dirty="0"/>
              <a:t> 41.1 (2025): 341-352.</a:t>
            </a:r>
          </a:p>
          <a:p>
            <a:pPr marL="285750" indent="-285750">
              <a:buFont typeface="Arial" panose="020B0604020202020204" pitchFamily="34" charset="0"/>
              <a:buChar char="•"/>
            </a:pPr>
            <a:r>
              <a:rPr lang="en-GB" sz="1100" dirty="0"/>
              <a:t>Nazarova, Deniz. "Application of artificial intelligence in mental healthcare: generative pre-trained transformer 3 (Gpt-3) and cognitive distortions." </a:t>
            </a:r>
            <a:r>
              <a:rPr lang="en-GB" sz="1100" i="1" dirty="0"/>
              <a:t>Proceedings of the Future Technologies Conference</a:t>
            </a:r>
            <a:r>
              <a:rPr lang="en-GB" sz="1100" dirty="0"/>
              <a:t>. Cham: Springer Nature Switzerland, 2023.</a:t>
            </a:r>
            <a:endParaRPr lang="en-DE" sz="1100" dirty="0"/>
          </a:p>
        </p:txBody>
      </p:sp>
    </p:spTree>
    <p:extLst>
      <p:ext uri="{BB962C8B-B14F-4D97-AF65-F5344CB8AC3E}">
        <p14:creationId xmlns:p14="http://schemas.microsoft.com/office/powerpoint/2010/main" val="1461615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986542DE-C918-95B3-8C87-09B2EB259BC2}"/>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870222" y="2255884"/>
            <a:ext cx="4800600" cy="2819400"/>
          </a:xfrm>
          <a:prstGeom prst="rect">
            <a:avLst/>
          </a:prstGeom>
        </p:spPr>
      </p:pic>
      <p:pic>
        <p:nvPicPr>
          <p:cNvPr id="23" name="Graphic 22">
            <a:extLst>
              <a:ext uri="{FF2B5EF4-FFF2-40B4-BE49-F238E27FC236}">
                <a16:creationId xmlns:a16="http://schemas.microsoft.com/office/drawing/2014/main" id="{220CBC38-A3C8-BA35-C062-12DF82FC06E3}"/>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822528" y="2255884"/>
            <a:ext cx="4762500" cy="3556000"/>
          </a:xfrm>
          <a:prstGeom prst="rect">
            <a:avLst/>
          </a:prstGeom>
        </p:spPr>
      </p:pic>
      <p:pic>
        <p:nvPicPr>
          <p:cNvPr id="28" name="Graphic 27">
            <a:extLst>
              <a:ext uri="{FF2B5EF4-FFF2-40B4-BE49-F238E27FC236}">
                <a16:creationId xmlns:a16="http://schemas.microsoft.com/office/drawing/2014/main" id="{988D4D34-06E9-4F7F-1629-94D8DF68A239}"/>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4630037" y="6307932"/>
            <a:ext cx="6756400" cy="3556000"/>
          </a:xfrm>
          <a:prstGeom prst="rect">
            <a:avLst/>
          </a:prstGeom>
        </p:spPr>
      </p:pic>
      <p:sp>
        <p:nvSpPr>
          <p:cNvPr id="29" name="Rounded Rectangle 28">
            <a:extLst>
              <a:ext uri="{FF2B5EF4-FFF2-40B4-BE49-F238E27FC236}">
                <a16:creationId xmlns:a16="http://schemas.microsoft.com/office/drawing/2014/main" id="{451DC8AE-D65F-83D2-DEB3-ABCF7816836B}"/>
              </a:ext>
            </a:extLst>
          </p:cNvPr>
          <p:cNvSpPr/>
          <p:nvPr/>
        </p:nvSpPr>
        <p:spPr>
          <a:xfrm>
            <a:off x="2616118" y="2100571"/>
            <a:ext cx="10508211" cy="3869923"/>
          </a:xfrm>
          <a:prstGeom prst="roundRect">
            <a:avLst>
              <a:gd name="adj" fmla="val 3362"/>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0" name="Rounded Rectangle 29">
            <a:extLst>
              <a:ext uri="{FF2B5EF4-FFF2-40B4-BE49-F238E27FC236}">
                <a16:creationId xmlns:a16="http://schemas.microsoft.com/office/drawing/2014/main" id="{9F5F0C80-1C7E-B58C-AF78-F38AA8460C1F}"/>
              </a:ext>
            </a:extLst>
          </p:cNvPr>
          <p:cNvSpPr/>
          <p:nvPr/>
        </p:nvSpPr>
        <p:spPr>
          <a:xfrm>
            <a:off x="2616117" y="6125807"/>
            <a:ext cx="10508211" cy="3869923"/>
          </a:xfrm>
          <a:prstGeom prst="roundRect">
            <a:avLst>
              <a:gd name="adj" fmla="val 3362"/>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1" name="TextBox 30">
            <a:extLst>
              <a:ext uri="{FF2B5EF4-FFF2-40B4-BE49-F238E27FC236}">
                <a16:creationId xmlns:a16="http://schemas.microsoft.com/office/drawing/2014/main" id="{8CC664C2-3ECC-366A-F630-5338F3AF6D5B}"/>
              </a:ext>
            </a:extLst>
          </p:cNvPr>
          <p:cNvSpPr txBox="1"/>
          <p:nvPr/>
        </p:nvSpPr>
        <p:spPr>
          <a:xfrm>
            <a:off x="2616117" y="2097274"/>
            <a:ext cx="482600" cy="369332"/>
          </a:xfrm>
          <a:prstGeom prst="rect">
            <a:avLst/>
          </a:prstGeom>
          <a:noFill/>
        </p:spPr>
        <p:txBody>
          <a:bodyPr wrap="square" rtlCol="0">
            <a:spAutoFit/>
          </a:bodyPr>
          <a:lstStyle/>
          <a:p>
            <a:r>
              <a:rPr lang="en-DE" b="1" dirty="0"/>
              <a:t>A</a:t>
            </a:r>
          </a:p>
        </p:txBody>
      </p:sp>
      <p:sp>
        <p:nvSpPr>
          <p:cNvPr id="32" name="TextBox 31">
            <a:extLst>
              <a:ext uri="{FF2B5EF4-FFF2-40B4-BE49-F238E27FC236}">
                <a16:creationId xmlns:a16="http://schemas.microsoft.com/office/drawing/2014/main" id="{3585B969-5264-2BAD-8B41-2F88BBE4096B}"/>
              </a:ext>
            </a:extLst>
          </p:cNvPr>
          <p:cNvSpPr txBox="1"/>
          <p:nvPr/>
        </p:nvSpPr>
        <p:spPr>
          <a:xfrm>
            <a:off x="2650846" y="6125807"/>
            <a:ext cx="482600" cy="369332"/>
          </a:xfrm>
          <a:prstGeom prst="rect">
            <a:avLst/>
          </a:prstGeom>
          <a:noFill/>
        </p:spPr>
        <p:txBody>
          <a:bodyPr wrap="square" rtlCol="0">
            <a:spAutoFit/>
          </a:bodyPr>
          <a:lstStyle/>
          <a:p>
            <a:r>
              <a:rPr lang="en-DE" b="1" dirty="0"/>
              <a:t>B</a:t>
            </a:r>
          </a:p>
        </p:txBody>
      </p:sp>
      <p:sp>
        <p:nvSpPr>
          <p:cNvPr id="34" name="TextBox 33">
            <a:extLst>
              <a:ext uri="{FF2B5EF4-FFF2-40B4-BE49-F238E27FC236}">
                <a16:creationId xmlns:a16="http://schemas.microsoft.com/office/drawing/2014/main" id="{3B9CCB80-F773-EAF4-2437-60946B6CEB08}"/>
              </a:ext>
            </a:extLst>
          </p:cNvPr>
          <p:cNvSpPr txBox="1"/>
          <p:nvPr/>
        </p:nvSpPr>
        <p:spPr>
          <a:xfrm>
            <a:off x="2616117" y="10177855"/>
            <a:ext cx="10508210" cy="2308324"/>
          </a:xfrm>
          <a:prstGeom prst="rect">
            <a:avLst/>
          </a:prstGeom>
          <a:noFill/>
        </p:spPr>
        <p:txBody>
          <a:bodyPr wrap="square">
            <a:spAutoFit/>
          </a:bodyPr>
          <a:lstStyle/>
          <a:p>
            <a:pPr>
              <a:buNone/>
            </a:pPr>
            <a:r>
              <a:rPr lang="en-GB" b="1" dirty="0"/>
              <a:t>Figure 3 | Technical characteristics of the reviewed LLM applications.</a:t>
            </a:r>
            <a:r>
              <a:rPr lang="en-GB" dirty="0"/>
              <a:t> </a:t>
            </a:r>
            <a:r>
              <a:rPr lang="en-GB" b="1" dirty="0"/>
              <a:t>A</a:t>
            </a:r>
            <a:r>
              <a:rPr lang="en-GB" dirty="0"/>
              <a:t>, Horizontal bar charts detailing technical characteristics: the frequency of the top 8 Large Language Model (LLM) families utilized (left; note that a single study may utilize multiple LLMs and thus be counted in multiple categories), and the distribution of development approaches (right). </a:t>
            </a:r>
            <a:r>
              <a:rPr lang="en-GB" b="1" dirty="0"/>
              <a:t>B</a:t>
            </a:r>
            <a:r>
              <a:rPr lang="en-GB" dirty="0"/>
              <a:t>, A stacked bar chart illustrating the annual publication trend from 2020 to 2025, categorized by model weight accessibility. The chart distinguishes between applications built using exclusively closed-weight models (where model weights are proprietary) and those incorporating at least some open-weight models (where model weights are publicly available for local deployment).</a:t>
            </a:r>
          </a:p>
        </p:txBody>
      </p:sp>
      <p:sp>
        <p:nvSpPr>
          <p:cNvPr id="4" name="Rounded Rectangle 3">
            <a:extLst>
              <a:ext uri="{FF2B5EF4-FFF2-40B4-BE49-F238E27FC236}">
                <a16:creationId xmlns:a16="http://schemas.microsoft.com/office/drawing/2014/main" id="{6F90E403-D144-2F66-8F15-91D68690D7A2}"/>
              </a:ext>
            </a:extLst>
          </p:cNvPr>
          <p:cNvSpPr/>
          <p:nvPr/>
        </p:nvSpPr>
        <p:spPr>
          <a:xfrm>
            <a:off x="8879284" y="5127462"/>
            <a:ext cx="3791538" cy="697192"/>
          </a:xfrm>
          <a:prstGeom prst="roundRect">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72000" tIns="72000" rIns="72000" bIns="72000" rtlCol="0" anchor="ctr" anchorCtr="0">
            <a:spAutoFit/>
          </a:bodyPr>
          <a:lstStyle/>
          <a:p>
            <a:r>
              <a:rPr lang="en-DE" sz="1050" b="1" dirty="0">
                <a:solidFill>
                  <a:schemeClr val="tx1"/>
                </a:solidFill>
              </a:rPr>
              <a:t>*other modules</a:t>
            </a:r>
            <a:r>
              <a:rPr lang="en-DE" sz="1050" dirty="0">
                <a:solidFill>
                  <a:schemeClr val="tx1"/>
                </a:solidFill>
              </a:rPr>
              <a:t> refers to any additional software or hardware component outside of the bare LLM, such as risk detection, sentiment classification, speech-to-text modules, etc.</a:t>
            </a:r>
          </a:p>
        </p:txBody>
      </p:sp>
      <p:sp>
        <p:nvSpPr>
          <p:cNvPr id="2" name="TextBox 1">
            <a:extLst>
              <a:ext uri="{FF2B5EF4-FFF2-40B4-BE49-F238E27FC236}">
                <a16:creationId xmlns:a16="http://schemas.microsoft.com/office/drawing/2014/main" id="{E6481731-40AC-35A8-D636-F4760C1CF001}"/>
              </a:ext>
            </a:extLst>
          </p:cNvPr>
          <p:cNvSpPr txBox="1"/>
          <p:nvPr/>
        </p:nvSpPr>
        <p:spPr>
          <a:xfrm>
            <a:off x="11205633" y="6912708"/>
            <a:ext cx="1329267" cy="461665"/>
          </a:xfrm>
          <a:prstGeom prst="rect">
            <a:avLst/>
          </a:prstGeom>
          <a:noFill/>
        </p:spPr>
        <p:txBody>
          <a:bodyPr wrap="square" rtlCol="0">
            <a:spAutoFit/>
          </a:bodyPr>
          <a:lstStyle/>
          <a:p>
            <a:r>
              <a:rPr lang="en-DE" sz="1200" dirty="0"/>
              <a:t>Inclusion cutoff: July 17, 2025</a:t>
            </a:r>
          </a:p>
        </p:txBody>
      </p:sp>
      <p:cxnSp>
        <p:nvCxnSpPr>
          <p:cNvPr id="3" name="Straight Arrow Connector 2">
            <a:extLst>
              <a:ext uri="{FF2B5EF4-FFF2-40B4-BE49-F238E27FC236}">
                <a16:creationId xmlns:a16="http://schemas.microsoft.com/office/drawing/2014/main" id="{3F8F777F-D86F-9167-BAC1-7B39335DFFD4}"/>
              </a:ext>
            </a:extLst>
          </p:cNvPr>
          <p:cNvCxnSpPr>
            <a:cxnSpLocks/>
            <a:stCxn id="2" idx="1"/>
          </p:cNvCxnSpPr>
          <p:nvPr/>
        </p:nvCxnSpPr>
        <p:spPr>
          <a:xfrm flipH="1">
            <a:off x="10867579" y="7143541"/>
            <a:ext cx="338054" cy="1690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0892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8DE8A07-5742-BCBF-E64F-F6B3B59A35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03787" y="9721435"/>
            <a:ext cx="4145711" cy="4013200"/>
          </a:xfrm>
          <a:prstGeom prst="rect">
            <a:avLst/>
          </a:prstGeom>
        </p:spPr>
      </p:pic>
      <p:pic>
        <p:nvPicPr>
          <p:cNvPr id="12" name="Graphic 11">
            <a:extLst>
              <a:ext uri="{FF2B5EF4-FFF2-40B4-BE49-F238E27FC236}">
                <a16:creationId xmlns:a16="http://schemas.microsoft.com/office/drawing/2014/main" id="{3FE3F257-D56C-D49C-0A67-8A7B11E02B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73793" y="10597735"/>
            <a:ext cx="6413500" cy="2857500"/>
          </a:xfrm>
          <a:prstGeom prst="rect">
            <a:avLst/>
          </a:prstGeom>
        </p:spPr>
      </p:pic>
      <p:pic>
        <p:nvPicPr>
          <p:cNvPr id="16" name="Graphic 15">
            <a:extLst>
              <a:ext uri="{FF2B5EF4-FFF2-40B4-BE49-F238E27FC236}">
                <a16:creationId xmlns:a16="http://schemas.microsoft.com/office/drawing/2014/main" id="{D16BB509-6654-7EC9-F7D3-1E90B8D3153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779493" y="5225962"/>
            <a:ext cx="5194300" cy="3751438"/>
          </a:xfrm>
          <a:prstGeom prst="rect">
            <a:avLst/>
          </a:prstGeom>
        </p:spPr>
      </p:pic>
      <p:pic>
        <p:nvPicPr>
          <p:cNvPr id="24" name="Graphic 23">
            <a:extLst>
              <a:ext uri="{FF2B5EF4-FFF2-40B4-BE49-F238E27FC236}">
                <a16:creationId xmlns:a16="http://schemas.microsoft.com/office/drawing/2014/main" id="{86F3C117-7ABA-CFD6-5D3D-BCE513F2645C}"/>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2379443" y="1054671"/>
            <a:ext cx="5994400" cy="3556000"/>
          </a:xfrm>
          <a:prstGeom prst="rect">
            <a:avLst/>
          </a:prstGeom>
        </p:spPr>
      </p:pic>
      <p:sp>
        <p:nvSpPr>
          <p:cNvPr id="25" name="Rounded Rectangle 24">
            <a:extLst>
              <a:ext uri="{FF2B5EF4-FFF2-40B4-BE49-F238E27FC236}">
                <a16:creationId xmlns:a16="http://schemas.microsoft.com/office/drawing/2014/main" id="{D08C7914-88D6-3F54-D912-BDC19D33F5EA}"/>
              </a:ext>
            </a:extLst>
          </p:cNvPr>
          <p:cNvSpPr/>
          <p:nvPr/>
        </p:nvSpPr>
        <p:spPr>
          <a:xfrm>
            <a:off x="2195392" y="881371"/>
            <a:ext cx="12501484" cy="8300729"/>
          </a:xfrm>
          <a:prstGeom prst="roundRect">
            <a:avLst>
              <a:gd name="adj" fmla="val 3362"/>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6" name="TextBox 25">
            <a:extLst>
              <a:ext uri="{FF2B5EF4-FFF2-40B4-BE49-F238E27FC236}">
                <a16:creationId xmlns:a16="http://schemas.microsoft.com/office/drawing/2014/main" id="{FA0E5DFD-5109-55F6-DE8C-88C48F92C69A}"/>
              </a:ext>
            </a:extLst>
          </p:cNvPr>
          <p:cNvSpPr txBox="1"/>
          <p:nvPr/>
        </p:nvSpPr>
        <p:spPr>
          <a:xfrm>
            <a:off x="2195391" y="878074"/>
            <a:ext cx="482600" cy="369332"/>
          </a:xfrm>
          <a:prstGeom prst="rect">
            <a:avLst/>
          </a:prstGeom>
          <a:noFill/>
        </p:spPr>
        <p:txBody>
          <a:bodyPr wrap="square" rtlCol="0">
            <a:spAutoFit/>
          </a:bodyPr>
          <a:lstStyle/>
          <a:p>
            <a:r>
              <a:rPr lang="en-DE" b="1" dirty="0"/>
              <a:t>A</a:t>
            </a:r>
          </a:p>
        </p:txBody>
      </p:sp>
      <p:sp>
        <p:nvSpPr>
          <p:cNvPr id="27" name="Rounded Rectangle 26">
            <a:extLst>
              <a:ext uri="{FF2B5EF4-FFF2-40B4-BE49-F238E27FC236}">
                <a16:creationId xmlns:a16="http://schemas.microsoft.com/office/drawing/2014/main" id="{46258FA0-7B26-B719-4FA8-510321F07AB0}"/>
              </a:ext>
            </a:extLst>
          </p:cNvPr>
          <p:cNvSpPr/>
          <p:nvPr/>
        </p:nvSpPr>
        <p:spPr>
          <a:xfrm>
            <a:off x="2195391" y="9355400"/>
            <a:ext cx="12501485" cy="4684450"/>
          </a:xfrm>
          <a:prstGeom prst="roundRect">
            <a:avLst>
              <a:gd name="adj" fmla="val 3362"/>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8" name="TextBox 27">
            <a:extLst>
              <a:ext uri="{FF2B5EF4-FFF2-40B4-BE49-F238E27FC236}">
                <a16:creationId xmlns:a16="http://schemas.microsoft.com/office/drawing/2014/main" id="{4EFD84B1-AEB0-4D6A-E5FE-6B6183930044}"/>
              </a:ext>
            </a:extLst>
          </p:cNvPr>
          <p:cNvSpPr txBox="1"/>
          <p:nvPr/>
        </p:nvSpPr>
        <p:spPr>
          <a:xfrm>
            <a:off x="2195390" y="9352103"/>
            <a:ext cx="482600" cy="369332"/>
          </a:xfrm>
          <a:prstGeom prst="rect">
            <a:avLst/>
          </a:prstGeom>
          <a:noFill/>
        </p:spPr>
        <p:txBody>
          <a:bodyPr wrap="square" rtlCol="0">
            <a:spAutoFit/>
          </a:bodyPr>
          <a:lstStyle/>
          <a:p>
            <a:r>
              <a:rPr lang="en-DE" b="1" dirty="0"/>
              <a:t>B</a:t>
            </a:r>
          </a:p>
        </p:txBody>
      </p:sp>
      <p:sp>
        <p:nvSpPr>
          <p:cNvPr id="30" name="TextBox 29">
            <a:extLst>
              <a:ext uri="{FF2B5EF4-FFF2-40B4-BE49-F238E27FC236}">
                <a16:creationId xmlns:a16="http://schemas.microsoft.com/office/drawing/2014/main" id="{3418E318-F2A2-BFD5-9E02-D567413EDA08}"/>
              </a:ext>
            </a:extLst>
          </p:cNvPr>
          <p:cNvSpPr txBox="1"/>
          <p:nvPr/>
        </p:nvSpPr>
        <p:spPr>
          <a:xfrm>
            <a:off x="2179418" y="14213150"/>
            <a:ext cx="12501485" cy="2585323"/>
          </a:xfrm>
          <a:prstGeom prst="rect">
            <a:avLst/>
          </a:prstGeom>
          <a:noFill/>
        </p:spPr>
        <p:txBody>
          <a:bodyPr wrap="square">
            <a:spAutoFit/>
          </a:bodyPr>
          <a:lstStyle/>
          <a:p>
            <a:r>
              <a:rPr lang="en-GB" b="1" dirty="0"/>
              <a:t>Figure 4 | Characteristics of datasets and evaluation methods.</a:t>
            </a:r>
            <a:r>
              <a:rPr lang="en-GB" dirty="0"/>
              <a:t> This figure details the types of datasets used in the reviewed studies and how applications were evaluated. </a:t>
            </a:r>
            <a:r>
              <a:rPr lang="en-GB" b="1" dirty="0"/>
              <a:t>A</a:t>
            </a:r>
            <a:r>
              <a:rPr lang="en-GB" dirty="0"/>
              <a:t>, The top left bar chart categorizes datasets by their type, such as single-turn Q&amp;A or multi-turn dialogue records. Below it, the bar charts show the characteristics of help-seekers (middle left) and responders (bottom left) within these datasets. The bar chart on the right identifies specific datasets that were used in more than one article, indicating their reuse across studies. </a:t>
            </a:r>
            <a:r>
              <a:rPr lang="en-GB" b="1" dirty="0"/>
              <a:t>B</a:t>
            </a:r>
            <a:r>
              <a:rPr lang="en-GB" dirty="0"/>
              <a:t>, This panel focuses on how applications were evaluated in studies without human participants. The left bar chart shows the frequency of different evaluation approaches (e.g., comparison against ground-truth reference, human rating, linguistic properties). The right stacked bar chart categorizes comparison methods (e.g., human support-provider, another technical application, no comparison) and, for those with comparisons, indicates the reported performance of the application (better, equal, or worse).</a:t>
            </a:r>
            <a:endParaRPr lang="en-DE" dirty="0"/>
          </a:p>
        </p:txBody>
      </p:sp>
      <p:pic>
        <p:nvPicPr>
          <p:cNvPr id="34" name="Graphic 33">
            <a:extLst>
              <a:ext uri="{FF2B5EF4-FFF2-40B4-BE49-F238E27FC236}">
                <a16:creationId xmlns:a16="http://schemas.microsoft.com/office/drawing/2014/main" id="{EE9958D2-0EBE-420F-615B-E9F7790E7EB3}"/>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9808159" y="7312691"/>
            <a:ext cx="4280755" cy="1621678"/>
          </a:xfrm>
          <a:prstGeom prst="rect">
            <a:avLst/>
          </a:prstGeom>
        </p:spPr>
      </p:pic>
      <p:pic>
        <p:nvPicPr>
          <p:cNvPr id="38" name="Graphic 37">
            <a:extLst>
              <a:ext uri="{FF2B5EF4-FFF2-40B4-BE49-F238E27FC236}">
                <a16:creationId xmlns:a16="http://schemas.microsoft.com/office/drawing/2014/main" id="{C0836CBA-BFD6-66A7-C0F4-2F8B7D210C01}"/>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8703259" y="1318200"/>
            <a:ext cx="5676900" cy="5384800"/>
          </a:xfrm>
          <a:prstGeom prst="rect">
            <a:avLst/>
          </a:prstGeom>
        </p:spPr>
      </p:pic>
    </p:spTree>
    <p:extLst>
      <p:ext uri="{BB962C8B-B14F-4D97-AF65-F5344CB8AC3E}">
        <p14:creationId xmlns:p14="http://schemas.microsoft.com/office/powerpoint/2010/main" val="3023020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604CDF61-527E-E794-CF2E-B11F5E3BBD4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131422" y="2122907"/>
            <a:ext cx="11737817" cy="9818080"/>
          </a:xfrm>
          <a:prstGeom prst="rect">
            <a:avLst/>
          </a:prstGeom>
        </p:spPr>
      </p:pic>
      <p:sp>
        <p:nvSpPr>
          <p:cNvPr id="19" name="TextBox 18">
            <a:extLst>
              <a:ext uri="{FF2B5EF4-FFF2-40B4-BE49-F238E27FC236}">
                <a16:creationId xmlns:a16="http://schemas.microsoft.com/office/drawing/2014/main" id="{B619EFCF-9739-2BD5-624B-A4A318F6FC50}"/>
              </a:ext>
            </a:extLst>
          </p:cNvPr>
          <p:cNvSpPr txBox="1"/>
          <p:nvPr/>
        </p:nvSpPr>
        <p:spPr>
          <a:xfrm>
            <a:off x="3131422" y="11940988"/>
            <a:ext cx="11737818" cy="2031325"/>
          </a:xfrm>
          <a:prstGeom prst="rect">
            <a:avLst/>
          </a:prstGeom>
          <a:noFill/>
        </p:spPr>
        <p:txBody>
          <a:bodyPr wrap="square">
            <a:spAutoFit/>
          </a:bodyPr>
          <a:lstStyle/>
          <a:p>
            <a:pPr>
              <a:buNone/>
            </a:pPr>
            <a:r>
              <a:rPr lang="en-GB" b="1" dirty="0"/>
              <a:t>Figure 5 | Adoption of responsible development practices (READI framework) in client-facing applications.</a:t>
            </a:r>
            <a:r>
              <a:rPr lang="en-GB" dirty="0"/>
              <a:t> The figure displays the adoption rate of 12 responsible development practices, organized into the six categories of the READI framework (Safety, Privacy, Equity, Engagement, Effectiveness, and Implementation). Each bar indicates the percentage of articles that adopted a specific component, with the raw counts shown on the right.</a:t>
            </a:r>
          </a:p>
          <a:p>
            <a:pPr>
              <a:buNone/>
            </a:pPr>
            <a:r>
              <a:rPr lang="en-GB" i="1" dirty="0"/>
              <a:t>*The denominator for most components is the total number of client-facing applications (n = 116). Components marked with an asterisk were assessed only in the subset of studies that involved human participants (n = 37).</a:t>
            </a:r>
            <a:r>
              <a:rPr lang="en-GB" dirty="0"/>
              <a:t> </a:t>
            </a:r>
            <a:r>
              <a:rPr lang="en-GB" b="1" i="1" dirty="0"/>
              <a:t>Abbreviations</a:t>
            </a:r>
            <a:r>
              <a:rPr lang="en-GB" i="1" dirty="0"/>
              <a:t>: LLM, Large Language Model.</a:t>
            </a:r>
            <a:endParaRPr lang="en-GB" dirty="0"/>
          </a:p>
        </p:txBody>
      </p:sp>
      <p:sp>
        <p:nvSpPr>
          <p:cNvPr id="21" name="TextBox 20">
            <a:extLst>
              <a:ext uri="{FF2B5EF4-FFF2-40B4-BE49-F238E27FC236}">
                <a16:creationId xmlns:a16="http://schemas.microsoft.com/office/drawing/2014/main" id="{9E410770-6A26-EF97-4B4E-86072C67B13F}"/>
              </a:ext>
            </a:extLst>
          </p:cNvPr>
          <p:cNvSpPr txBox="1"/>
          <p:nvPr/>
        </p:nvSpPr>
        <p:spPr>
          <a:xfrm>
            <a:off x="3131422" y="15554590"/>
            <a:ext cx="9000564" cy="430887"/>
          </a:xfrm>
          <a:prstGeom prst="rect">
            <a:avLst/>
          </a:prstGeom>
          <a:noFill/>
        </p:spPr>
        <p:txBody>
          <a:bodyPr wrap="square">
            <a:spAutoFit/>
          </a:bodyPr>
          <a:lstStyle/>
          <a:p>
            <a:pPr marL="285750" indent="-285750">
              <a:buFont typeface="Arial" panose="020B0604020202020204" pitchFamily="34" charset="0"/>
              <a:buChar char="•"/>
            </a:pPr>
            <a:r>
              <a:rPr lang="en-GB" sz="1100" b="0" i="0" dirty="0">
                <a:solidFill>
                  <a:srgbClr val="222222"/>
                </a:solidFill>
                <a:effectLst/>
                <a:latin typeface="Arial" panose="020B0604020202020204" pitchFamily="34" charset="0"/>
              </a:rPr>
              <a:t>Stade, Elizabeth C., et al. "Readiness evaluation for artificial intelligence-mental health deployment and implementation (READI): a review and proposed framework." (2025).</a:t>
            </a:r>
            <a:endParaRPr lang="en-DE" sz="1100" dirty="0"/>
          </a:p>
        </p:txBody>
      </p:sp>
    </p:spTree>
    <p:extLst>
      <p:ext uri="{BB962C8B-B14F-4D97-AF65-F5344CB8AC3E}">
        <p14:creationId xmlns:p14="http://schemas.microsoft.com/office/powerpoint/2010/main" val="1595798228"/>
      </p:ext>
    </p:extLst>
  </p:cSld>
  <p:clrMapOvr>
    <a:masterClrMapping/>
  </p:clrMapOvr>
</p:sld>
</file>

<file path=ppt/theme/theme1.xml><?xml version="1.0" encoding="utf-8"?>
<a:theme xmlns:a="http://schemas.openxmlformats.org/drawingml/2006/main" name="Office Theme">
  <a:themeElements>
    <a:clrScheme name="okabe_ito">
      <a:dk1>
        <a:srgbClr val="000000"/>
      </a:dk1>
      <a:lt1>
        <a:srgbClr val="FFFFFF"/>
      </a:lt1>
      <a:dk2>
        <a:srgbClr val="D55E00"/>
      </a:dk2>
      <a:lt2>
        <a:srgbClr val="E8E8E8"/>
      </a:lt2>
      <a:accent1>
        <a:srgbClr val="F29B00"/>
      </a:accent1>
      <a:accent2>
        <a:srgbClr val="009E73"/>
      </a:accent2>
      <a:accent3>
        <a:srgbClr val="0071B2"/>
      </a:accent3>
      <a:accent4>
        <a:srgbClr val="CC79A7"/>
      </a:accent4>
      <a:accent5>
        <a:srgbClr val="56B3E9"/>
      </a:accent5>
      <a:accent6>
        <a:srgbClr val="F0E341"/>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23324</TotalTime>
  <Words>2375</Words>
  <Application>Microsoft Macintosh PowerPoint</Application>
  <PresentationFormat>Custom</PresentationFormat>
  <Paragraphs>182</Paragraphs>
  <Slides>11</Slides>
  <Notes>3</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Gaus</dc:creator>
  <cp:lastModifiedBy>Richard Gaus</cp:lastModifiedBy>
  <cp:revision>65</cp:revision>
  <dcterms:created xsi:type="dcterms:W3CDTF">2025-09-21T21:59:26Z</dcterms:created>
  <dcterms:modified xsi:type="dcterms:W3CDTF">2025-10-31T06:35:56Z</dcterms:modified>
</cp:coreProperties>
</file>